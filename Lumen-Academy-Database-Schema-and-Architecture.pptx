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"/>
      <p:regular r:id="rId201314"/>
    </p:embeddedFont>
    <p:embeddedFont>
      <p:font typeface="Inconsolata Black"/>
      <p:regular r:id="rId201315"/>
    </p:embeddedFont>
    <p:embeddedFont>
      <p:font typeface="Inconsolata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3934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Lumen Academy — Database Schema &amp; Architecture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75496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Assessment engine and LMS built for NEET, JEE Main, and JEE Advanced. PostgreSQL 16 on Supabase, Prisma v6.14.0. 36 Prisma models across 11 domain modules. Security-first design: server-controlled clocks, IDOR-proof authorization, and zero answer leakage.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5289"/>
            <a:ext cx="4722763" cy="6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Architectural Principles — 4 Non‑Negotiable Schema Laws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925119" y="1325091"/>
            <a:ext cx="2305124" cy="1497211"/>
          </a:xfrm>
          <a:prstGeom prst="roundRect">
            <a:avLst>
              <a:gd name="adj" fmla="val 38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651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56087" y="1456060"/>
            <a:ext cx="20431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Zero-Leak Answer Keys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6087" y="1720751"/>
            <a:ext cx="2043187" cy="964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Fields like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isCorrect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and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numericalAnswer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live only on server-side snapshots and are never selected or returned before attempt submission.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42683" y="1325091"/>
            <a:ext cx="2305199" cy="1497211"/>
          </a:xfrm>
          <a:prstGeom prst="roundRect">
            <a:avLst>
              <a:gd name="adj" fmla="val 38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651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73651" y="1456060"/>
            <a:ext cx="2043261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Server-Controlled Clocks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3651" y="1918022"/>
            <a:ext cx="204326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startedAt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deadlineAt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and sectional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lockedAt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are authoritative on server time — client clocks are untrusted.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934742"/>
            <a:ext cx="2305124" cy="1683395"/>
          </a:xfrm>
          <a:prstGeom prst="roundRect">
            <a:avLst>
              <a:gd name="adj" fmla="val 33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651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56087" y="3065711"/>
            <a:ext cx="2043187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IDOR-Proof Authorization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6087" y="3527673"/>
            <a:ext cx="204318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Every student row ties to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or to a parent entity owned by that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to prevent access-by-id guessing.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42683" y="2934742"/>
            <a:ext cx="2305199" cy="1683395"/>
          </a:xfrm>
          <a:prstGeom prst="roundRect">
            <a:avLst>
              <a:gd name="adj" fmla="val 33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6510" dir="270000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73651" y="3065711"/>
            <a:ext cx="2043261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Immutable Result Freeze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73651" y="3527673"/>
            <a:ext cx="2043261" cy="959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AttemptQuestion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snapshots question stem, options, marking rules, and answer keys at submit time — edits never touch historical scores.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777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11 Domain Modules — 36 Prisma Models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96564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Concise module list and representative Prisma models for each domain. This structure guides ownership, RBAC boundaries, and rollup responsibilities for analytics and grading.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78745"/>
            <a:ext cx="753740" cy="7537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7038" y="2578745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 — Identity &amp; Security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27038" y="3106713"/>
            <a:ext cx="1668214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StudentProfile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UserPreference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578745"/>
            <a:ext cx="753740" cy="7537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3353" y="2578745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 — Syllabus Taxonomy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203353" y="3106713"/>
            <a:ext cx="1668214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578745"/>
            <a:ext cx="753740" cy="7537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79667" y="2578745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 — Question Bank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979667" y="3106713"/>
            <a:ext cx="1668214" cy="68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supports 5 interaction formats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63141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246956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Identity &amp; Profile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743075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Primary user model maps to Supabase auth; optional fields for email/phone and role-based defaults. StudentProfile feeds the AIR rank predictor via categorical inputs.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12132"/>
            <a:ext cx="4004965" cy="1327621"/>
          </a:xfrm>
          <a:prstGeom prst="roundRect">
            <a:avLst>
              <a:gd name="adj" fmla="val 430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6927" y="3172941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AIR Rank Inputs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3479453"/>
            <a:ext cx="3683347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StudentProfile.category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(GENERAL, EWS, OBC_NCL, SC, ST)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StudentProfile.state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used to calculate home‑state quotas and cutoffs.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3012132"/>
            <a:ext cx="4005039" cy="1327621"/>
          </a:xfrm>
          <a:prstGeom prst="roundRect">
            <a:avLst>
              <a:gd name="adj" fmla="val 430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3651" y="3172941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Audit &amp; Compliance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03651" y="3479453"/>
            <a:ext cx="3683422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stores hashed IP and privileged-action records for forensic review and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8978"/>
            <a:ext cx="8151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Question Bank — 5 Interaction Formats &amp; Review Lifecycle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4121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741215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SINGLE_CORRECT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047726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Standard 4-option MCQs used for NEET/JEE Main.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4121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1741215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MULTIPLE_CORRECT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047726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Multiple answers with partial marking contracts for advanced exams.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74121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1741215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NUMERICAL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047726"/>
            <a:ext cx="2067595" cy="68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Integer/decimal inputs graded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numericalTolerance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metadata.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21211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7658" y="3021211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MATCHING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27658" y="3327722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Left/right matrix mappings with validation rules and UI hints.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21211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03972" y="3021211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ASSERTION_REASON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803972" y="3327722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Paired statements with combined correctness logic and partial scoring.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96119" y="416763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Editorial pipeline: DRAFT → PENDING_REVIEW → PUBLISHED → RETIRED with human critic paths and versioning.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00" y="939998"/>
            <a:ext cx="7321525" cy="26504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8656" y="2943440"/>
            <a:ext cx="3553978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Submit: Snapshot AttemptQuestion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448656" y="2144582"/>
            <a:ext cx="2455547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Create Attempt Instance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48656" y="1337572"/>
            <a:ext cx="2116236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Define Test Template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6119" y="374987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Separation of template and instance preserves templates for reuse while attempts hold authoritative, immutable snapshots used for grading and audit.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930920"/>
            <a:ext cx="3902943" cy="1063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Attempt Engine — Sectional Timing &amp; Autosave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2135758"/>
            <a:ext cx="3902943" cy="2169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Sectional Clock Enforcement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Independent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AttemptSection.lockedAt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values let sections lock separately (required for JEE sectional rules).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Autosave Resilience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AttemptQuestion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uses upsert semantics keyed by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(attemptId, questionId)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to support intermittent connectivity.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Scoring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Server computes marks at submission time using snapshotted rules; no client-side scoring trusted.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6272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Law 4 — Immutable Snapshotting (Example)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496119" y="1267644"/>
            <a:ext cx="4722763" cy="2604418"/>
          </a:xfrm>
          <a:prstGeom prst="roundRect">
            <a:avLst>
              <a:gd name="adj" fmla="val 219"/>
            </a:avLst>
          </a:prstGeom>
          <a:solidFill>
            <a:srgbClr val="EBDFD7"/>
          </a:solidFill>
          <a:ln/>
        </p:spPr>
      </p:sp>
      <p:sp>
        <p:nvSpPr>
          <p:cNvPr id="5" name="Text 2"/>
          <p:cNvSpPr/>
          <p:nvPr/>
        </p:nvSpPr>
        <p:spPr>
          <a:xfrm>
            <a:off x="655588" y="1400547"/>
            <a:ext cx="4403824" cy="2338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  "attemptId": "att-9901",
  "questionId": "q-4412",
  "contentSnapshot": { "stemEn": "What is unit vector magnitude?" },
  "correctOptionIdsSnapshot": ["opt-a-uuid"],
  "marksSnapshot": 4,
  "negativeMarksSnapshot": 1,
  "marksAwarded": 4,
  "isCorrect": true
}
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6119" y="4012183"/>
            <a:ext cx="4722763" cy="714970"/>
          </a:xfrm>
          <a:prstGeom prst="roundRect">
            <a:avLst>
              <a:gd name="adj" fmla="val 799"/>
            </a:avLst>
          </a:prstGeom>
          <a:solidFill>
            <a:srgbClr val="E4E6E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2" y="4191744"/>
            <a:ext cx="166092" cy="132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018" y="4169941"/>
            <a:ext cx="4157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Business value: Corrections to live Question records never retroactively change historical student scores or transcripts.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71971"/>
            <a:ext cx="3478039" cy="1970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1112416"/>
            <a:ext cx="432777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LMS, Gamification &amp; Productivity Tools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1962894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Integrated content and retention features designed to increase daily active use and learning efficacy.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3061767"/>
            <a:ext cx="571798" cy="7147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5096" y="3061767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Lesson Video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245096" y="3368278"/>
            <a:ext cx="1850157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Timestamps, bookmarks, and watch-percentage tracking (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LessonVideo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VideoTimestamp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LessonProgress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433" y="3061767"/>
            <a:ext cx="571798" cy="7147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21410" y="3061767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Gamification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021410" y="3368278"/>
            <a:ext cx="1850157" cy="47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Badge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DailyGoal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push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queue.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747" y="3061767"/>
            <a:ext cx="571798" cy="7147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97725" y="3061767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Productivity Suite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797725" y="3368278"/>
            <a:ext cx="1850157" cy="9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PomodoroSession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StudyPlan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(AI-generated timetables),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Flashcard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RevisionNote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7572"/>
            <a:ext cx="472276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Developer Operations &amp; Production Status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3925119" y="1223590"/>
            <a:ext cx="47227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CLI and CI workflows ensure schema validity, type safety, and deployable artifacts.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703710"/>
            <a:ext cx="4722763" cy="2128019"/>
          </a:xfrm>
          <a:prstGeom prst="roundRect">
            <a:avLst>
              <a:gd name="adj" fmla="val 26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5240" dir="2700000">
              <a:srgbClr val="151617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29881" y="1708472"/>
            <a:ext cx="1571030" cy="1249784"/>
          </a:xfrm>
          <a:custGeom>
            <a:avLst/>
            <a:gdLst/>
            <a:ahLst/>
            <a:cxnLst/>
            <a:rect l="l" t="t" r="r" b="b"/>
            <a:pathLst>
              <a:path w="1571030" h="1249784">
                <a:moveTo>
                  <a:pt x="4763" y="0"/>
                </a:moveTo>
                <a:lnTo>
                  <a:pt x="1571030" y="0"/>
                </a:lnTo>
                <a:lnTo>
                  <a:pt x="1571030" y="1249784"/>
                </a:lnTo>
                <a:lnTo>
                  <a:pt x="0" y="1249784"/>
                </a:lnTo>
                <a:lnTo>
                  <a:pt x="0" y="4763"/>
                </a:lnTo>
                <a:arcTo hR="4763" wR="4763" stAng="10800000" swAng="5400000"/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7" name="Text 4"/>
          <p:cNvSpPr/>
          <p:nvPr/>
        </p:nvSpPr>
        <p:spPr>
          <a:xfrm>
            <a:off x="4051697" y="1830288"/>
            <a:ext cx="13273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DB Validation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51697" y="2083445"/>
            <a:ext cx="1327398" cy="55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db:validate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schema syntax and relation checks.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00911" y="1708472"/>
            <a:ext cx="1571104" cy="1249784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10" name="Shape 7"/>
          <p:cNvSpPr/>
          <p:nvPr/>
        </p:nvSpPr>
        <p:spPr>
          <a:xfrm>
            <a:off x="5500911" y="1708472"/>
            <a:ext cx="14288" cy="1249784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11" name="Text 8"/>
          <p:cNvSpPr/>
          <p:nvPr/>
        </p:nvSpPr>
        <p:spPr>
          <a:xfrm>
            <a:off x="5622727" y="1830288"/>
            <a:ext cx="132747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Client Generation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22727" y="2273796"/>
            <a:ext cx="1327472" cy="5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db:generate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generate type-safe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@prisma/client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72015" y="1708472"/>
            <a:ext cx="1571104" cy="1249784"/>
          </a:xfrm>
          <a:custGeom>
            <a:avLst/>
            <a:gdLst/>
            <a:ahLst/>
            <a:cxnLst/>
            <a:rect l="l" t="t" r="r" b="b"/>
            <a:pathLst>
              <a:path w="1571104" h="1249784">
                <a:moveTo>
                  <a:pt x="0" y="0"/>
                </a:moveTo>
                <a:lnTo>
                  <a:pt x="1566342" y="0"/>
                </a:lnTo>
                <a:arcTo hR="4763" wR="4763" stAng="16200000" swAng="5400000"/>
                <a:lnTo>
                  <a:pt x="1571104" y="1249784"/>
                </a:lnTo>
                <a:lnTo>
                  <a:pt x="0" y="1249784"/>
                </a:lnTo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14" name="Shape 11"/>
          <p:cNvSpPr/>
          <p:nvPr/>
        </p:nvSpPr>
        <p:spPr>
          <a:xfrm>
            <a:off x="7072015" y="1708472"/>
            <a:ext cx="14288" cy="1249784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15" name="Text 12"/>
          <p:cNvSpPr/>
          <p:nvPr/>
        </p:nvSpPr>
        <p:spPr>
          <a:xfrm>
            <a:off x="7193831" y="1830288"/>
            <a:ext cx="132747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Verification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193831" y="2273796"/>
            <a:ext cx="1327472" cy="55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db:verify-all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populate and sanity-check all 36 models.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29881" y="2958257"/>
            <a:ext cx="4713238" cy="868710"/>
          </a:xfrm>
          <a:custGeom>
            <a:avLst/>
            <a:gdLst/>
            <a:ahLst/>
            <a:cxnLst/>
            <a:rect l="l" t="t" r="r" b="b"/>
            <a:pathLst>
              <a:path w="4713238" h="868710">
                <a:moveTo>
                  <a:pt x="0" y="0"/>
                </a:moveTo>
                <a:lnTo>
                  <a:pt x="4713238" y="0"/>
                </a:lnTo>
                <a:lnTo>
                  <a:pt x="4713238" y="863947"/>
                </a:lnTo>
                <a:arcTo hR="4763" wR="4763" stAng="0" swAng="5400000"/>
                <a:lnTo>
                  <a:pt x="4763" y="868710"/>
                </a:lnTo>
                <a:arcTo hR="4763" wR="4763" stAng="5400000" swAng="5400000"/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18" name="Shape 15"/>
          <p:cNvSpPr/>
          <p:nvPr/>
        </p:nvSpPr>
        <p:spPr>
          <a:xfrm>
            <a:off x="3929881" y="2958257"/>
            <a:ext cx="4713238" cy="14288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19" name="Text 16"/>
          <p:cNvSpPr/>
          <p:nvPr/>
        </p:nvSpPr>
        <p:spPr>
          <a:xfrm>
            <a:off x="4051697" y="3080072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Studio &amp; Typecheck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051697" y="3333229"/>
            <a:ext cx="4469606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db:studio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;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typecheck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passed clean on PostgreSQL 16 (Supabase).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925119" y="3979887"/>
            <a:ext cx="4722763" cy="14288"/>
          </a:xfrm>
          <a:prstGeom prst="roundRect">
            <a:avLst>
              <a:gd name="adj" fmla="val 49998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925119" y="4142333"/>
            <a:ext cx="472276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Production note: All models validated and deployed with zero TypeScript errors. Follow-up items: formalize backup/restore SLAs, run periodic snapshot audits, and codify emergency rollback procedures.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2026-08-11T05:14:31Z</dcterms:created>
  <dcterms:modified xsi:type="dcterms:W3CDTF">2026-08-11T05:14:31Z</dcterms:modified>
</cp:coreProperties>
</file>