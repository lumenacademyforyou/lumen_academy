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C2B4A"/>
          </a:solidFill>
          <a:ln/>
        </p:spPr>
      </p:sp>
      <p:sp>
        <p:nvSpPr>
          <p:cNvPr id="3" name="Text 1"/>
          <p:cNvSpPr/>
          <p:nvPr/>
        </p:nvSpPr>
        <p:spPr>
          <a:xfrm>
            <a:off x="914400" y="1645920"/>
            <a:ext cx="10360152" cy="548640"/>
          </a:xfrm>
          <a:prstGeom prst="rect">
            <a:avLst/>
          </a:prstGeom>
          <a:noFill/>
          <a:ln/>
        </p:spPr>
        <p:txBody>
          <a:bodyPr wrap="square" rtlCol="0" anchor="ctr"/>
          <a:lstStyle/>
          <a:p>
            <a:pPr indent="0" marL="0">
              <a:buNone/>
            </a:pPr>
            <a:r>
              <a:rPr lang="en-US" sz="2200" b="1" dirty="0">
                <a:solidFill>
                  <a:srgbClr val="D97706"/>
                </a:solidFill>
              </a:rPr>
              <a:t>🏛️ Lumen Academy</a:t>
            </a:r>
            <a:endParaRPr lang="en-US" sz="2200" dirty="0"/>
          </a:p>
        </p:txBody>
      </p:sp>
      <p:sp>
        <p:nvSpPr>
          <p:cNvPr id="4" name="Text 2"/>
          <p:cNvSpPr/>
          <p:nvPr/>
        </p:nvSpPr>
        <p:spPr>
          <a:xfrm>
            <a:off x="914400" y="2286000"/>
            <a:ext cx="10360152" cy="1097280"/>
          </a:xfrm>
          <a:prstGeom prst="rect">
            <a:avLst/>
          </a:prstGeom>
          <a:noFill/>
          <a:ln/>
        </p:spPr>
        <p:txBody>
          <a:bodyPr wrap="square" rtlCol="0" anchor="ctr"/>
          <a:lstStyle/>
          <a:p>
            <a:pPr indent="0" marL="0">
              <a:buNone/>
            </a:pPr>
            <a:r>
              <a:rPr lang="en-US" sz="3800" b="1" dirty="0">
                <a:solidFill>
                  <a:srgbClr val="FFFFFF"/>
                </a:solidFill>
              </a:rPr>
              <a:t>Database Schema &amp; System Architecture</a:t>
            </a:r>
            <a:endParaRPr lang="en-US" sz="3800" dirty="0"/>
          </a:p>
        </p:txBody>
      </p:sp>
      <p:sp>
        <p:nvSpPr>
          <p:cNvPr id="5" name="Text 3"/>
          <p:cNvSpPr/>
          <p:nvPr/>
        </p:nvSpPr>
        <p:spPr>
          <a:xfrm>
            <a:off x="914400" y="3474720"/>
            <a:ext cx="10360152" cy="548640"/>
          </a:xfrm>
          <a:prstGeom prst="rect">
            <a:avLst/>
          </a:prstGeom>
          <a:noFill/>
          <a:ln/>
        </p:spPr>
        <p:txBody>
          <a:bodyPr wrap="square" rtlCol="0" anchor="ctr"/>
          <a:lstStyle/>
          <a:p>
            <a:pPr indent="0" marL="0">
              <a:buNone/>
            </a:pPr>
            <a:r>
              <a:rPr lang="en-US" sz="1800" dirty="0">
                <a:solidFill>
                  <a:srgbClr val="CBD5E1"/>
                </a:solidFill>
              </a:rPr>
              <a:t>Comprehensive Architecture Guide for NTA NEET &amp; JEE Exam Prep Platform</a:t>
            </a:r>
            <a:endParaRPr lang="en-US" sz="1800" dirty="0"/>
          </a:p>
        </p:txBody>
      </p:sp>
      <p:sp>
        <p:nvSpPr>
          <p:cNvPr id="6" name="Shape 4"/>
          <p:cNvSpPr/>
          <p:nvPr/>
        </p:nvSpPr>
        <p:spPr>
          <a:xfrm>
            <a:off x="914400" y="4754880"/>
            <a:ext cx="2377440" cy="457200"/>
          </a:xfrm>
          <a:prstGeom prst="roundRect">
            <a:avLst>
              <a:gd name="adj" fmla="val 20000"/>
            </a:avLst>
          </a:prstGeom>
          <a:solidFill>
            <a:srgbClr val="2B3F66"/>
          </a:solidFill>
          <a:ln w="12700">
            <a:solidFill>
              <a:srgbClr val="3B82F6"/>
            </a:solidFill>
            <a:prstDash val="solid"/>
          </a:ln>
        </p:spPr>
      </p:sp>
      <p:sp>
        <p:nvSpPr>
          <p:cNvPr id="7" name="Text 5"/>
          <p:cNvSpPr/>
          <p:nvPr/>
        </p:nvSpPr>
        <p:spPr>
          <a:xfrm>
            <a:off x="914400" y="4754880"/>
            <a:ext cx="2377440" cy="457200"/>
          </a:xfrm>
          <a:prstGeom prst="rect">
            <a:avLst/>
          </a:prstGeom>
          <a:noFill/>
          <a:ln/>
        </p:spPr>
        <p:txBody>
          <a:bodyPr wrap="square" rtlCol="0" anchor="ctr"/>
          <a:lstStyle/>
          <a:p>
            <a:pPr algn="ctr" indent="0" marL="0">
              <a:buNone/>
            </a:pPr>
            <a:r>
              <a:rPr lang="en-US" sz="1100" b="1" dirty="0">
                <a:solidFill>
                  <a:srgbClr val="FFFFFF"/>
                </a:solidFill>
              </a:rPr>
              <a:t>PostgreSQL 16 (Supabase)</a:t>
            </a:r>
            <a:endParaRPr lang="en-US" sz="1100" dirty="0"/>
          </a:p>
        </p:txBody>
      </p:sp>
      <p:sp>
        <p:nvSpPr>
          <p:cNvPr id="8" name="Shape 6"/>
          <p:cNvSpPr/>
          <p:nvPr/>
        </p:nvSpPr>
        <p:spPr>
          <a:xfrm>
            <a:off x="3474720" y="4754880"/>
            <a:ext cx="2377440" cy="457200"/>
          </a:xfrm>
          <a:prstGeom prst="roundRect">
            <a:avLst>
              <a:gd name="adj" fmla="val 20000"/>
            </a:avLst>
          </a:prstGeom>
          <a:solidFill>
            <a:srgbClr val="2B3F66"/>
          </a:solidFill>
          <a:ln w="12700">
            <a:solidFill>
              <a:srgbClr val="3B82F6"/>
            </a:solidFill>
            <a:prstDash val="solid"/>
          </a:ln>
        </p:spPr>
      </p:sp>
      <p:sp>
        <p:nvSpPr>
          <p:cNvPr id="9" name="Text 7"/>
          <p:cNvSpPr/>
          <p:nvPr/>
        </p:nvSpPr>
        <p:spPr>
          <a:xfrm>
            <a:off x="3474720" y="4754880"/>
            <a:ext cx="2377440" cy="457200"/>
          </a:xfrm>
          <a:prstGeom prst="rect">
            <a:avLst/>
          </a:prstGeom>
          <a:noFill/>
          <a:ln/>
        </p:spPr>
        <p:txBody>
          <a:bodyPr wrap="square" rtlCol="0" anchor="ctr"/>
          <a:lstStyle/>
          <a:p>
            <a:pPr algn="ctr" indent="0" marL="0">
              <a:buNone/>
            </a:pPr>
            <a:r>
              <a:rPr lang="en-US" sz="1100" b="1" dirty="0">
                <a:solidFill>
                  <a:srgbClr val="FFFFFF"/>
                </a:solidFill>
              </a:rPr>
              <a:t>Prisma ORM v6.14</a:t>
            </a:r>
            <a:endParaRPr lang="en-US" sz="1100" dirty="0"/>
          </a:p>
        </p:txBody>
      </p:sp>
      <p:sp>
        <p:nvSpPr>
          <p:cNvPr id="10" name="Shape 8"/>
          <p:cNvSpPr/>
          <p:nvPr/>
        </p:nvSpPr>
        <p:spPr>
          <a:xfrm>
            <a:off x="6035040" y="4754880"/>
            <a:ext cx="2377440" cy="457200"/>
          </a:xfrm>
          <a:prstGeom prst="roundRect">
            <a:avLst>
              <a:gd name="adj" fmla="val 20000"/>
            </a:avLst>
          </a:prstGeom>
          <a:solidFill>
            <a:srgbClr val="2B3F66"/>
          </a:solidFill>
          <a:ln w="12700">
            <a:solidFill>
              <a:srgbClr val="3B82F6"/>
            </a:solidFill>
            <a:prstDash val="solid"/>
          </a:ln>
        </p:spPr>
      </p:sp>
      <p:sp>
        <p:nvSpPr>
          <p:cNvPr id="11" name="Text 9"/>
          <p:cNvSpPr/>
          <p:nvPr/>
        </p:nvSpPr>
        <p:spPr>
          <a:xfrm>
            <a:off x="6035040" y="4754880"/>
            <a:ext cx="2377440" cy="457200"/>
          </a:xfrm>
          <a:prstGeom prst="rect">
            <a:avLst/>
          </a:prstGeom>
          <a:noFill/>
          <a:ln/>
        </p:spPr>
        <p:txBody>
          <a:bodyPr wrap="square" rtlCol="0" anchor="ctr"/>
          <a:lstStyle/>
          <a:p>
            <a:pPr algn="ctr" indent="0" marL="0">
              <a:buNone/>
            </a:pPr>
            <a:r>
              <a:rPr lang="en-US" sz="1100" b="1" dirty="0">
                <a:solidFill>
                  <a:srgbClr val="FFFFFF"/>
                </a:solidFill>
              </a:rPr>
              <a:t>36 Models</a:t>
            </a:r>
            <a:endParaRPr lang="en-US" sz="1100" dirty="0"/>
          </a:p>
        </p:txBody>
      </p:sp>
      <p:sp>
        <p:nvSpPr>
          <p:cNvPr id="12" name="Shape 10"/>
          <p:cNvSpPr/>
          <p:nvPr/>
        </p:nvSpPr>
        <p:spPr>
          <a:xfrm>
            <a:off x="8595360" y="4754880"/>
            <a:ext cx="2377440" cy="457200"/>
          </a:xfrm>
          <a:prstGeom prst="roundRect">
            <a:avLst>
              <a:gd name="adj" fmla="val 20000"/>
            </a:avLst>
          </a:prstGeom>
          <a:solidFill>
            <a:srgbClr val="2B3F66"/>
          </a:solidFill>
          <a:ln w="12700">
            <a:solidFill>
              <a:srgbClr val="3B82F6"/>
            </a:solidFill>
            <a:prstDash val="solid"/>
          </a:ln>
        </p:spPr>
      </p:sp>
      <p:sp>
        <p:nvSpPr>
          <p:cNvPr id="13" name="Text 11"/>
          <p:cNvSpPr/>
          <p:nvPr/>
        </p:nvSpPr>
        <p:spPr>
          <a:xfrm>
            <a:off x="8595360" y="4754880"/>
            <a:ext cx="2377440" cy="457200"/>
          </a:xfrm>
          <a:prstGeom prst="rect">
            <a:avLst/>
          </a:prstGeom>
          <a:noFill/>
          <a:ln/>
        </p:spPr>
        <p:txBody>
          <a:bodyPr wrap="square" rtlCol="0" anchor="ctr"/>
          <a:lstStyle/>
          <a:p>
            <a:pPr algn="ctr" indent="0" marL="0">
              <a:buNone/>
            </a:pPr>
            <a:r>
              <a:rPr lang="en-US" sz="1100" b="1" dirty="0">
                <a:solidFill>
                  <a:srgbClr val="FFFFFF"/>
                </a:solidFill>
              </a:rPr>
              <a:t>11 Domain Modules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1C2B4A"/>
          </a:solidFill>
          <a:ln w="12700">
            <a:solidFill>
              <a:srgbClr val="1C2B4A"/>
            </a:solidFill>
            <a:prstDash val="solid"/>
          </a:ln>
        </p:spPr>
      </p:sp>
      <p:sp>
        <p:nvSpPr>
          <p:cNvPr id="3" name="Text 1"/>
          <p:cNvSpPr/>
          <p:nvPr/>
        </p:nvSpPr>
        <p:spPr>
          <a:xfrm>
            <a:off x="548640" y="182880"/>
            <a:ext cx="10972800" cy="411480"/>
          </a:xfrm>
          <a:prstGeom prst="rect">
            <a:avLst/>
          </a:prstGeom>
          <a:noFill/>
          <a:ln/>
        </p:spPr>
        <p:txBody>
          <a:bodyPr wrap="square" rtlCol="0" anchor="ctr"/>
          <a:lstStyle/>
          <a:p>
            <a:pPr indent="0" marL="0">
              <a:buNone/>
            </a:pPr>
            <a:r>
              <a:rPr lang="en-US" sz="2400" b="1" dirty="0">
                <a:solidFill>
                  <a:srgbClr val="FFFFFF"/>
                </a:solidFill>
              </a:rPr>
              <a:t>1. Core Design Laws &amp; Architectural Principles</a:t>
            </a:r>
            <a:endParaRPr lang="en-US" sz="2400" dirty="0"/>
          </a:p>
        </p:txBody>
      </p:sp>
      <p:sp>
        <p:nvSpPr>
          <p:cNvPr id="4" name="Text 2"/>
          <p:cNvSpPr/>
          <p:nvPr/>
        </p:nvSpPr>
        <p:spPr>
          <a:xfrm>
            <a:off x="548640" y="594360"/>
            <a:ext cx="10972800" cy="320040"/>
          </a:xfrm>
          <a:prstGeom prst="rect">
            <a:avLst/>
          </a:prstGeom>
          <a:noFill/>
          <a:ln/>
        </p:spPr>
        <p:txBody>
          <a:bodyPr wrap="square" rtlCol="0" anchor="ctr"/>
          <a:lstStyle/>
          <a:p>
            <a:pPr indent="0" marL="0">
              <a:buNone/>
            </a:pPr>
            <a:r>
              <a:rPr lang="en-US" sz="1400" dirty="0">
                <a:solidFill>
                  <a:srgbClr val="94A3B8"/>
                </a:solidFill>
              </a:rPr>
              <a:t>Enforced constraints at the database schema layer</a:t>
            </a:r>
            <a:endParaRPr lang="en-US" sz="1400" dirty="0"/>
          </a:p>
        </p:txBody>
      </p:sp>
      <p:sp>
        <p:nvSpPr>
          <p:cNvPr id="5" name="Text 3"/>
          <p:cNvSpPr/>
          <p:nvPr/>
        </p:nvSpPr>
        <p:spPr>
          <a:xfrm>
            <a:off x="548640" y="6492240"/>
            <a:ext cx="10972800" cy="274320"/>
          </a:xfrm>
          <a:prstGeom prst="rect">
            <a:avLst/>
          </a:prstGeom>
          <a:noFill/>
          <a:ln/>
        </p:spPr>
        <p:txBody>
          <a:bodyPr wrap="square" rtlCol="0" anchor="ctr"/>
          <a:lstStyle/>
          <a:p>
            <a:pPr indent="0" marL="0">
              <a:buNone/>
            </a:pPr>
            <a:r>
              <a:rPr lang="en-US" sz="1000" dirty="0">
                <a:solidFill>
                  <a:srgbClr val="64748B"/>
                </a:solidFill>
              </a:rPr>
              <a:t>Lumen Academy Database Architecture  |  Slide 2 of 10</a:t>
            </a:r>
            <a:endParaRPr lang="en-US" sz="1000" dirty="0"/>
          </a:p>
        </p:txBody>
      </p:sp>
      <p:sp>
        <p:nvSpPr>
          <p:cNvPr id="6" name="Shape 4"/>
          <p:cNvSpPr/>
          <p:nvPr/>
        </p:nvSpPr>
        <p:spPr>
          <a:xfrm>
            <a:off x="731520" y="1463040"/>
            <a:ext cx="5120640" cy="2103120"/>
          </a:xfrm>
          <a:prstGeom prst="roundRect">
            <a:avLst>
              <a:gd name="adj" fmla="val 6522"/>
            </a:avLst>
          </a:prstGeom>
          <a:solidFill>
            <a:srgbClr val="EFF6FF"/>
          </a:solidFill>
          <a:ln w="19050">
            <a:solidFill>
              <a:srgbClr val="BFDBFE"/>
            </a:solidFill>
            <a:prstDash val="solid"/>
          </a:ln>
        </p:spPr>
      </p:sp>
      <p:sp>
        <p:nvSpPr>
          <p:cNvPr id="7" name="Text 5"/>
          <p:cNvSpPr/>
          <p:nvPr/>
        </p:nvSpPr>
        <p:spPr>
          <a:xfrm>
            <a:off x="1005840" y="1737360"/>
            <a:ext cx="4572000" cy="365760"/>
          </a:xfrm>
          <a:prstGeom prst="rect">
            <a:avLst/>
          </a:prstGeom>
          <a:noFill/>
          <a:ln/>
        </p:spPr>
        <p:txBody>
          <a:bodyPr wrap="square" rtlCol="0" anchor="ctr"/>
          <a:lstStyle/>
          <a:p>
            <a:pPr indent="0" marL="0">
              <a:buNone/>
            </a:pPr>
            <a:r>
              <a:rPr lang="en-US" sz="1800" b="1" dirty="0">
                <a:solidFill>
                  <a:srgbClr val="2563EB"/>
                </a:solidFill>
              </a:rPr>
              <a:t>🔒 Zero-Leak Security</a:t>
            </a:r>
            <a:endParaRPr lang="en-US" sz="1800" dirty="0"/>
          </a:p>
        </p:txBody>
      </p:sp>
      <p:sp>
        <p:nvSpPr>
          <p:cNvPr id="8" name="Text 6"/>
          <p:cNvSpPr/>
          <p:nvPr/>
        </p:nvSpPr>
        <p:spPr>
          <a:xfrm>
            <a:off x="1005840" y="2194560"/>
            <a:ext cx="4572000" cy="1097280"/>
          </a:xfrm>
          <a:prstGeom prst="rect">
            <a:avLst/>
          </a:prstGeom>
          <a:noFill/>
          <a:ln/>
        </p:spPr>
        <p:txBody>
          <a:bodyPr wrap="square" rtlCol="0" anchor="ctr"/>
          <a:lstStyle/>
          <a:p>
            <a:pPr indent="0" marL="0">
              <a:buNone/>
            </a:pPr>
            <a:r>
              <a:rPr lang="en-US" sz="1400" dirty="0">
                <a:solidFill>
                  <a:srgbClr val="1F2937"/>
                </a:solidFill>
              </a:rPr>
              <a:t>Scoring keys and correct choices are strictly server-only until attempt submission.</a:t>
            </a:r>
            <a:endParaRPr lang="en-US" sz="1400" dirty="0"/>
          </a:p>
        </p:txBody>
      </p:sp>
      <p:sp>
        <p:nvSpPr>
          <p:cNvPr id="9" name="Shape 7"/>
          <p:cNvSpPr/>
          <p:nvPr/>
        </p:nvSpPr>
        <p:spPr>
          <a:xfrm>
            <a:off x="6126480" y="1463040"/>
            <a:ext cx="5120640" cy="2103120"/>
          </a:xfrm>
          <a:prstGeom prst="roundRect">
            <a:avLst>
              <a:gd name="adj" fmla="val 6522"/>
            </a:avLst>
          </a:prstGeom>
          <a:solidFill>
            <a:srgbClr val="EFF6FF"/>
          </a:solidFill>
          <a:ln w="19050">
            <a:solidFill>
              <a:srgbClr val="BFDBFE"/>
            </a:solidFill>
            <a:prstDash val="solid"/>
          </a:ln>
        </p:spPr>
      </p:sp>
      <p:sp>
        <p:nvSpPr>
          <p:cNvPr id="10" name="Text 8"/>
          <p:cNvSpPr/>
          <p:nvPr/>
        </p:nvSpPr>
        <p:spPr>
          <a:xfrm>
            <a:off x="6400800" y="1737360"/>
            <a:ext cx="4572000" cy="365760"/>
          </a:xfrm>
          <a:prstGeom prst="rect">
            <a:avLst/>
          </a:prstGeom>
          <a:noFill/>
          <a:ln/>
        </p:spPr>
        <p:txBody>
          <a:bodyPr wrap="square" rtlCol="0" anchor="ctr"/>
          <a:lstStyle/>
          <a:p>
            <a:pPr indent="0" marL="0">
              <a:buNone/>
            </a:pPr>
            <a:r>
              <a:rPr lang="en-US" sz="1800" b="1" dirty="0">
                <a:solidFill>
                  <a:srgbClr val="2563EB"/>
                </a:solidFill>
              </a:rPr>
              <a:t>🕒 Server Clock Control</a:t>
            </a:r>
            <a:endParaRPr lang="en-US" sz="1800" dirty="0"/>
          </a:p>
        </p:txBody>
      </p:sp>
      <p:sp>
        <p:nvSpPr>
          <p:cNvPr id="11" name="Text 9"/>
          <p:cNvSpPr/>
          <p:nvPr/>
        </p:nvSpPr>
        <p:spPr>
          <a:xfrm>
            <a:off x="6400800" y="2194560"/>
            <a:ext cx="4572000" cy="1097280"/>
          </a:xfrm>
          <a:prstGeom prst="rect">
            <a:avLst/>
          </a:prstGeom>
          <a:noFill/>
          <a:ln/>
        </p:spPr>
        <p:txBody>
          <a:bodyPr wrap="square" rtlCol="0" anchor="ctr"/>
          <a:lstStyle/>
          <a:p>
            <a:pPr indent="0" marL="0">
              <a:buNone/>
            </a:pPr>
            <a:r>
              <a:rPr lang="en-US" sz="1400" dirty="0">
                <a:solidFill>
                  <a:srgbClr val="1F2937"/>
                </a:solidFill>
              </a:rPr>
              <a:t>Server owns exam deadlines &amp; sectional timing. Client clocks are strictly un-trusted.</a:t>
            </a:r>
            <a:endParaRPr lang="en-US" sz="1400" dirty="0"/>
          </a:p>
        </p:txBody>
      </p:sp>
      <p:sp>
        <p:nvSpPr>
          <p:cNvPr id="12" name="Shape 10"/>
          <p:cNvSpPr/>
          <p:nvPr/>
        </p:nvSpPr>
        <p:spPr>
          <a:xfrm>
            <a:off x="731520" y="3840480"/>
            <a:ext cx="5120640" cy="2103120"/>
          </a:xfrm>
          <a:prstGeom prst="roundRect">
            <a:avLst>
              <a:gd name="adj" fmla="val 6522"/>
            </a:avLst>
          </a:prstGeom>
          <a:solidFill>
            <a:srgbClr val="EFF6FF"/>
          </a:solidFill>
          <a:ln w="19050">
            <a:solidFill>
              <a:srgbClr val="BFDBFE"/>
            </a:solidFill>
            <a:prstDash val="solid"/>
          </a:ln>
        </p:spPr>
      </p:sp>
      <p:sp>
        <p:nvSpPr>
          <p:cNvPr id="13" name="Text 11"/>
          <p:cNvSpPr/>
          <p:nvPr/>
        </p:nvSpPr>
        <p:spPr>
          <a:xfrm>
            <a:off x="1005840" y="4114800"/>
            <a:ext cx="4572000" cy="365760"/>
          </a:xfrm>
          <a:prstGeom prst="rect">
            <a:avLst/>
          </a:prstGeom>
          <a:noFill/>
          <a:ln/>
        </p:spPr>
        <p:txBody>
          <a:bodyPr wrap="square" rtlCol="0" anchor="ctr"/>
          <a:lstStyle/>
          <a:p>
            <a:pPr indent="0" marL="0">
              <a:buNone/>
            </a:pPr>
            <a:r>
              <a:rPr lang="en-US" sz="1800" b="1" dirty="0">
                <a:solidFill>
                  <a:srgbClr val="2563EB"/>
                </a:solidFill>
              </a:rPr>
              <a:t>🛡️ IDOR-Proof Access</a:t>
            </a:r>
            <a:endParaRPr lang="en-US" sz="1800" dirty="0"/>
          </a:p>
        </p:txBody>
      </p:sp>
      <p:sp>
        <p:nvSpPr>
          <p:cNvPr id="14" name="Text 12"/>
          <p:cNvSpPr/>
          <p:nvPr/>
        </p:nvSpPr>
        <p:spPr>
          <a:xfrm>
            <a:off x="1005840" y="4572000"/>
            <a:ext cx="4572000" cy="1097280"/>
          </a:xfrm>
          <a:prstGeom prst="rect">
            <a:avLst/>
          </a:prstGeom>
          <a:noFill/>
          <a:ln/>
        </p:spPr>
        <p:txBody>
          <a:bodyPr wrap="square" rtlCol="0" anchor="ctr"/>
          <a:lstStyle/>
          <a:p>
            <a:pPr indent="0" marL="0">
              <a:buNone/>
            </a:pPr>
            <a:r>
              <a:rPr lang="en-US" sz="1400" dirty="0">
                <a:solidFill>
                  <a:srgbClr val="1F2937"/>
                </a:solidFill>
              </a:rPr>
              <a:t>Every student-owned entity carries or joins on userId for explicit authorization.</a:t>
            </a:r>
            <a:endParaRPr lang="en-US" sz="1400" dirty="0"/>
          </a:p>
        </p:txBody>
      </p:sp>
      <p:sp>
        <p:nvSpPr>
          <p:cNvPr id="15" name="Shape 13"/>
          <p:cNvSpPr/>
          <p:nvPr/>
        </p:nvSpPr>
        <p:spPr>
          <a:xfrm>
            <a:off x="6126480" y="3840480"/>
            <a:ext cx="5120640" cy="2103120"/>
          </a:xfrm>
          <a:prstGeom prst="roundRect">
            <a:avLst>
              <a:gd name="adj" fmla="val 6522"/>
            </a:avLst>
          </a:prstGeom>
          <a:solidFill>
            <a:srgbClr val="EFF6FF"/>
          </a:solidFill>
          <a:ln w="19050">
            <a:solidFill>
              <a:srgbClr val="BFDBFE"/>
            </a:solidFill>
            <a:prstDash val="solid"/>
          </a:ln>
        </p:spPr>
      </p:sp>
      <p:sp>
        <p:nvSpPr>
          <p:cNvPr id="16" name="Text 14"/>
          <p:cNvSpPr/>
          <p:nvPr/>
        </p:nvSpPr>
        <p:spPr>
          <a:xfrm>
            <a:off x="6400800" y="4114800"/>
            <a:ext cx="4572000" cy="365760"/>
          </a:xfrm>
          <a:prstGeom prst="rect">
            <a:avLst/>
          </a:prstGeom>
          <a:noFill/>
          <a:ln/>
        </p:spPr>
        <p:txBody>
          <a:bodyPr wrap="square" rtlCol="0" anchor="ctr"/>
          <a:lstStyle/>
          <a:p>
            <a:pPr indent="0" marL="0">
              <a:buNone/>
            </a:pPr>
            <a:r>
              <a:rPr lang="en-US" sz="1800" b="1" dirty="0">
                <a:solidFill>
                  <a:srgbClr val="2563EB"/>
                </a:solidFill>
              </a:rPr>
              <a:t>🧊 Immutable Result Freeze</a:t>
            </a:r>
            <a:endParaRPr lang="en-US" sz="1800" dirty="0"/>
          </a:p>
        </p:txBody>
      </p:sp>
      <p:sp>
        <p:nvSpPr>
          <p:cNvPr id="17" name="Text 15"/>
          <p:cNvSpPr/>
          <p:nvPr/>
        </p:nvSpPr>
        <p:spPr>
          <a:xfrm>
            <a:off x="6400800" y="4572000"/>
            <a:ext cx="4572000" cy="1097280"/>
          </a:xfrm>
          <a:prstGeom prst="rect">
            <a:avLst/>
          </a:prstGeom>
          <a:noFill/>
          <a:ln/>
        </p:spPr>
        <p:txBody>
          <a:bodyPr wrap="square" rtlCol="0" anchor="ctr"/>
          <a:lstStyle/>
          <a:p>
            <a:pPr indent="0" marL="0">
              <a:buNone/>
            </a:pPr>
            <a:r>
              <a:rPr lang="en-US" sz="1400" dirty="0">
                <a:solidFill>
                  <a:srgbClr val="1F2937"/>
                </a:solidFill>
              </a:rPr>
              <a:t>Attempt rows snapshot question content and answer keys at submit time (Law 4).</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1C2B4A"/>
          </a:solidFill>
          <a:ln w="12700">
            <a:solidFill>
              <a:srgbClr val="1C2B4A"/>
            </a:solidFill>
            <a:prstDash val="solid"/>
          </a:ln>
        </p:spPr>
      </p:sp>
      <p:sp>
        <p:nvSpPr>
          <p:cNvPr id="3" name="Text 1"/>
          <p:cNvSpPr/>
          <p:nvPr/>
        </p:nvSpPr>
        <p:spPr>
          <a:xfrm>
            <a:off x="548640" y="182880"/>
            <a:ext cx="10972800" cy="411480"/>
          </a:xfrm>
          <a:prstGeom prst="rect">
            <a:avLst/>
          </a:prstGeom>
          <a:noFill/>
          <a:ln/>
        </p:spPr>
        <p:txBody>
          <a:bodyPr wrap="square" rtlCol="0" anchor="ctr"/>
          <a:lstStyle/>
          <a:p>
            <a:pPr indent="0" marL="0">
              <a:buNone/>
            </a:pPr>
            <a:r>
              <a:rPr lang="en-US" sz="2400" b="1" dirty="0">
                <a:solidFill>
                  <a:srgbClr val="FFFFFF"/>
                </a:solidFill>
              </a:rPr>
              <a:t>2. 11 Core Domain Modules Overview</a:t>
            </a:r>
            <a:endParaRPr lang="en-US" sz="2400" dirty="0"/>
          </a:p>
        </p:txBody>
      </p:sp>
      <p:sp>
        <p:nvSpPr>
          <p:cNvPr id="4" name="Text 2"/>
          <p:cNvSpPr/>
          <p:nvPr/>
        </p:nvSpPr>
        <p:spPr>
          <a:xfrm>
            <a:off x="548640" y="594360"/>
            <a:ext cx="10972800" cy="320040"/>
          </a:xfrm>
          <a:prstGeom prst="rect">
            <a:avLst/>
          </a:prstGeom>
          <a:noFill/>
          <a:ln/>
        </p:spPr>
        <p:txBody>
          <a:bodyPr wrap="square" rtlCol="0" anchor="ctr"/>
          <a:lstStyle/>
          <a:p>
            <a:pPr indent="0" marL="0">
              <a:buNone/>
            </a:pPr>
            <a:r>
              <a:rPr lang="en-US" sz="1400" dirty="0">
                <a:solidFill>
                  <a:srgbClr val="94A3B8"/>
                </a:solidFill>
              </a:rPr>
              <a:t>Complete application layout across 36 Prisma database models</a:t>
            </a:r>
            <a:endParaRPr lang="en-US" sz="1400" dirty="0"/>
          </a:p>
        </p:txBody>
      </p:sp>
      <p:sp>
        <p:nvSpPr>
          <p:cNvPr id="5" name="Text 3"/>
          <p:cNvSpPr/>
          <p:nvPr/>
        </p:nvSpPr>
        <p:spPr>
          <a:xfrm>
            <a:off x="548640" y="6492240"/>
            <a:ext cx="10972800" cy="274320"/>
          </a:xfrm>
          <a:prstGeom prst="rect">
            <a:avLst/>
          </a:prstGeom>
          <a:noFill/>
          <a:ln/>
        </p:spPr>
        <p:txBody>
          <a:bodyPr wrap="square" rtlCol="0" anchor="ctr"/>
          <a:lstStyle/>
          <a:p>
            <a:pPr indent="0" marL="0">
              <a:buNone/>
            </a:pPr>
            <a:r>
              <a:rPr lang="en-US" sz="1000" dirty="0">
                <a:solidFill>
                  <a:srgbClr val="64748B"/>
                </a:solidFill>
              </a:rPr>
              <a:t>Lumen Academy Database Architecture  |  Slide 3 of 10</a:t>
            </a:r>
            <a:endParaRPr lang="en-US" sz="1000" dirty="0"/>
          </a:p>
        </p:txBody>
      </p:sp>
      <p:sp>
        <p:nvSpPr>
          <p:cNvPr id="6" name="Shape 4"/>
          <p:cNvSpPr/>
          <p:nvPr/>
        </p:nvSpPr>
        <p:spPr>
          <a:xfrm>
            <a:off x="548640" y="1371600"/>
            <a:ext cx="3566160" cy="1097280"/>
          </a:xfrm>
          <a:prstGeom prst="roundRect">
            <a:avLst>
              <a:gd name="adj" fmla="val 8333"/>
            </a:avLst>
          </a:prstGeom>
          <a:solidFill>
            <a:srgbClr val="F8FAFC"/>
          </a:solidFill>
          <a:ln w="12700">
            <a:solidFill>
              <a:srgbClr val="CBD5E1"/>
            </a:solidFill>
            <a:prstDash val="solid"/>
          </a:ln>
        </p:spPr>
      </p:sp>
      <p:sp>
        <p:nvSpPr>
          <p:cNvPr id="7" name="Text 5"/>
          <p:cNvSpPr/>
          <p:nvPr/>
        </p:nvSpPr>
        <p:spPr>
          <a:xfrm>
            <a:off x="731520" y="1508760"/>
            <a:ext cx="3200400" cy="320040"/>
          </a:xfrm>
          <a:prstGeom prst="rect">
            <a:avLst/>
          </a:prstGeom>
          <a:noFill/>
          <a:ln/>
        </p:spPr>
        <p:txBody>
          <a:bodyPr wrap="square" rtlCol="0" anchor="ctr"/>
          <a:lstStyle/>
          <a:p>
            <a:pPr indent="0" marL="0">
              <a:buNone/>
            </a:pPr>
            <a:r>
              <a:rPr lang="en-US" sz="1400" b="1" dirty="0">
                <a:solidFill>
                  <a:srgbClr val="1C2B4A"/>
                </a:solidFill>
              </a:rPr>
              <a:t>01. Identity &amp; Profile</a:t>
            </a:r>
            <a:endParaRPr lang="en-US" sz="1400" dirty="0"/>
          </a:p>
        </p:txBody>
      </p:sp>
      <p:sp>
        <p:nvSpPr>
          <p:cNvPr id="8" name="Text 6"/>
          <p:cNvSpPr/>
          <p:nvPr/>
        </p:nvSpPr>
        <p:spPr>
          <a:xfrm>
            <a:off x="731520" y="1874520"/>
            <a:ext cx="3200400" cy="457200"/>
          </a:xfrm>
          <a:prstGeom prst="rect">
            <a:avLst/>
          </a:prstGeom>
          <a:noFill/>
          <a:ln/>
        </p:spPr>
        <p:txBody>
          <a:bodyPr wrap="square" rtlCol="0" anchor="ctr"/>
          <a:lstStyle/>
          <a:p>
            <a:pPr indent="0" marL="0">
              <a:buNone/>
            </a:pPr>
            <a:r>
              <a:rPr lang="en-US" sz="1100" dirty="0">
                <a:solidFill>
                  <a:srgbClr val="64748B"/>
                </a:solidFill>
              </a:rPr>
              <a:t>User, StudentProfile, Preferences, AuditLog</a:t>
            </a:r>
            <a:endParaRPr lang="en-US" sz="1100" dirty="0"/>
          </a:p>
        </p:txBody>
      </p:sp>
      <p:sp>
        <p:nvSpPr>
          <p:cNvPr id="9" name="Shape 7"/>
          <p:cNvSpPr/>
          <p:nvPr/>
        </p:nvSpPr>
        <p:spPr>
          <a:xfrm>
            <a:off x="548640" y="2606040"/>
            <a:ext cx="3566160" cy="1097280"/>
          </a:xfrm>
          <a:prstGeom prst="roundRect">
            <a:avLst>
              <a:gd name="adj" fmla="val 8333"/>
            </a:avLst>
          </a:prstGeom>
          <a:solidFill>
            <a:srgbClr val="F8FAFC"/>
          </a:solidFill>
          <a:ln w="12700">
            <a:solidFill>
              <a:srgbClr val="CBD5E1"/>
            </a:solidFill>
            <a:prstDash val="solid"/>
          </a:ln>
        </p:spPr>
      </p:sp>
      <p:sp>
        <p:nvSpPr>
          <p:cNvPr id="10" name="Text 8"/>
          <p:cNvSpPr/>
          <p:nvPr/>
        </p:nvSpPr>
        <p:spPr>
          <a:xfrm>
            <a:off x="731520" y="2743200"/>
            <a:ext cx="3200400" cy="320040"/>
          </a:xfrm>
          <a:prstGeom prst="rect">
            <a:avLst/>
          </a:prstGeom>
          <a:noFill/>
          <a:ln/>
        </p:spPr>
        <p:txBody>
          <a:bodyPr wrap="square" rtlCol="0" anchor="ctr"/>
          <a:lstStyle/>
          <a:p>
            <a:pPr indent="0" marL="0">
              <a:buNone/>
            </a:pPr>
            <a:r>
              <a:rPr lang="en-US" sz="1400" b="1" dirty="0">
                <a:solidFill>
                  <a:srgbClr val="1C2B4A"/>
                </a:solidFill>
              </a:rPr>
              <a:t>02. Syllabus Taxonomy</a:t>
            </a:r>
            <a:endParaRPr lang="en-US" sz="1400" dirty="0"/>
          </a:p>
        </p:txBody>
      </p:sp>
      <p:sp>
        <p:nvSpPr>
          <p:cNvPr id="11" name="Text 9"/>
          <p:cNvSpPr/>
          <p:nvPr/>
        </p:nvSpPr>
        <p:spPr>
          <a:xfrm>
            <a:off x="731520" y="3108960"/>
            <a:ext cx="3200400" cy="457200"/>
          </a:xfrm>
          <a:prstGeom prst="rect">
            <a:avLst/>
          </a:prstGeom>
          <a:noFill/>
          <a:ln/>
        </p:spPr>
        <p:txBody>
          <a:bodyPr wrap="square" rtlCol="0" anchor="ctr"/>
          <a:lstStyle/>
          <a:p>
            <a:pPr indent="0" marL="0">
              <a:buNone/>
            </a:pPr>
            <a:r>
              <a:rPr lang="en-US" sz="1100" dirty="0">
                <a:solidFill>
                  <a:srgbClr val="64748B"/>
                </a:solidFill>
              </a:rPr>
              <a:t>Subject, Unit, Topic</a:t>
            </a:r>
            <a:endParaRPr lang="en-US" sz="1100" dirty="0"/>
          </a:p>
        </p:txBody>
      </p:sp>
      <p:sp>
        <p:nvSpPr>
          <p:cNvPr id="12" name="Shape 10"/>
          <p:cNvSpPr/>
          <p:nvPr/>
        </p:nvSpPr>
        <p:spPr>
          <a:xfrm>
            <a:off x="548640" y="3840480"/>
            <a:ext cx="3566160" cy="1097280"/>
          </a:xfrm>
          <a:prstGeom prst="roundRect">
            <a:avLst>
              <a:gd name="adj" fmla="val 8333"/>
            </a:avLst>
          </a:prstGeom>
          <a:solidFill>
            <a:srgbClr val="F8FAFC"/>
          </a:solidFill>
          <a:ln w="12700">
            <a:solidFill>
              <a:srgbClr val="CBD5E1"/>
            </a:solidFill>
            <a:prstDash val="solid"/>
          </a:ln>
        </p:spPr>
      </p:sp>
      <p:sp>
        <p:nvSpPr>
          <p:cNvPr id="13" name="Text 11"/>
          <p:cNvSpPr/>
          <p:nvPr/>
        </p:nvSpPr>
        <p:spPr>
          <a:xfrm>
            <a:off x="731520" y="3977640"/>
            <a:ext cx="3200400" cy="320040"/>
          </a:xfrm>
          <a:prstGeom prst="rect">
            <a:avLst/>
          </a:prstGeom>
          <a:noFill/>
          <a:ln/>
        </p:spPr>
        <p:txBody>
          <a:bodyPr wrap="square" rtlCol="0" anchor="ctr"/>
          <a:lstStyle/>
          <a:p>
            <a:pPr indent="0" marL="0">
              <a:buNone/>
            </a:pPr>
            <a:r>
              <a:rPr lang="en-US" sz="1400" b="1" dirty="0">
                <a:solidFill>
                  <a:srgbClr val="1C2B4A"/>
                </a:solidFill>
              </a:rPr>
              <a:t>03. Question Bank</a:t>
            </a:r>
            <a:endParaRPr lang="en-US" sz="1400" dirty="0"/>
          </a:p>
        </p:txBody>
      </p:sp>
      <p:sp>
        <p:nvSpPr>
          <p:cNvPr id="14" name="Text 12"/>
          <p:cNvSpPr/>
          <p:nvPr/>
        </p:nvSpPr>
        <p:spPr>
          <a:xfrm>
            <a:off x="731520" y="4343400"/>
            <a:ext cx="3200400" cy="457200"/>
          </a:xfrm>
          <a:prstGeom prst="rect">
            <a:avLst/>
          </a:prstGeom>
          <a:noFill/>
          <a:ln/>
        </p:spPr>
        <p:txBody>
          <a:bodyPr wrap="square" rtlCol="0" anchor="ctr"/>
          <a:lstStyle/>
          <a:p>
            <a:pPr indent="0" marL="0">
              <a:buNone/>
            </a:pPr>
            <a:r>
              <a:rPr lang="en-US" sz="1100" dirty="0">
                <a:solidFill>
                  <a:srgbClr val="64748B"/>
                </a:solidFill>
              </a:rPr>
              <a:t>Question, Option (5 Interaction Types)</a:t>
            </a:r>
            <a:endParaRPr lang="en-US" sz="1100" dirty="0"/>
          </a:p>
        </p:txBody>
      </p:sp>
      <p:sp>
        <p:nvSpPr>
          <p:cNvPr id="15" name="Shape 13"/>
          <p:cNvSpPr/>
          <p:nvPr/>
        </p:nvSpPr>
        <p:spPr>
          <a:xfrm>
            <a:off x="548640" y="5074920"/>
            <a:ext cx="3566160" cy="1097280"/>
          </a:xfrm>
          <a:prstGeom prst="roundRect">
            <a:avLst>
              <a:gd name="adj" fmla="val 8333"/>
            </a:avLst>
          </a:prstGeom>
          <a:solidFill>
            <a:srgbClr val="F8FAFC"/>
          </a:solidFill>
          <a:ln w="12700">
            <a:solidFill>
              <a:srgbClr val="CBD5E1"/>
            </a:solidFill>
            <a:prstDash val="solid"/>
          </a:ln>
        </p:spPr>
      </p:sp>
      <p:sp>
        <p:nvSpPr>
          <p:cNvPr id="16" name="Text 14"/>
          <p:cNvSpPr/>
          <p:nvPr/>
        </p:nvSpPr>
        <p:spPr>
          <a:xfrm>
            <a:off x="731520" y="5212080"/>
            <a:ext cx="3200400" cy="320040"/>
          </a:xfrm>
          <a:prstGeom prst="rect">
            <a:avLst/>
          </a:prstGeom>
          <a:noFill/>
          <a:ln/>
        </p:spPr>
        <p:txBody>
          <a:bodyPr wrap="square" rtlCol="0" anchor="ctr"/>
          <a:lstStyle/>
          <a:p>
            <a:pPr indent="0" marL="0">
              <a:buNone/>
            </a:pPr>
            <a:r>
              <a:rPr lang="en-US" sz="1400" b="1" dirty="0">
                <a:solidFill>
                  <a:srgbClr val="1C2B4A"/>
                </a:solidFill>
              </a:rPr>
              <a:t>04. Tests (Templates)</a:t>
            </a:r>
            <a:endParaRPr lang="en-US" sz="1400" dirty="0"/>
          </a:p>
        </p:txBody>
      </p:sp>
      <p:sp>
        <p:nvSpPr>
          <p:cNvPr id="17" name="Text 15"/>
          <p:cNvSpPr/>
          <p:nvPr/>
        </p:nvSpPr>
        <p:spPr>
          <a:xfrm>
            <a:off x="731520" y="5577840"/>
            <a:ext cx="3200400" cy="457200"/>
          </a:xfrm>
          <a:prstGeom prst="rect">
            <a:avLst/>
          </a:prstGeom>
          <a:noFill/>
          <a:ln/>
        </p:spPr>
        <p:txBody>
          <a:bodyPr wrap="square" rtlCol="0" anchor="ctr"/>
          <a:lstStyle/>
          <a:p>
            <a:pPr indent="0" marL="0">
              <a:buNone/>
            </a:pPr>
            <a:r>
              <a:rPr lang="en-US" sz="1100" dirty="0">
                <a:solidFill>
                  <a:srgbClr val="64748B"/>
                </a:solidFill>
              </a:rPr>
              <a:t>Test, TestSection, TestQuestion</a:t>
            </a:r>
            <a:endParaRPr lang="en-US" sz="1100" dirty="0"/>
          </a:p>
        </p:txBody>
      </p:sp>
      <p:sp>
        <p:nvSpPr>
          <p:cNvPr id="18" name="Shape 16"/>
          <p:cNvSpPr/>
          <p:nvPr/>
        </p:nvSpPr>
        <p:spPr>
          <a:xfrm>
            <a:off x="4297680" y="1371600"/>
            <a:ext cx="3566160" cy="1097280"/>
          </a:xfrm>
          <a:prstGeom prst="roundRect">
            <a:avLst>
              <a:gd name="adj" fmla="val 8333"/>
            </a:avLst>
          </a:prstGeom>
          <a:solidFill>
            <a:srgbClr val="F8FAFC"/>
          </a:solidFill>
          <a:ln w="12700">
            <a:solidFill>
              <a:srgbClr val="CBD5E1"/>
            </a:solidFill>
            <a:prstDash val="solid"/>
          </a:ln>
        </p:spPr>
      </p:sp>
      <p:sp>
        <p:nvSpPr>
          <p:cNvPr id="19" name="Text 17"/>
          <p:cNvSpPr/>
          <p:nvPr/>
        </p:nvSpPr>
        <p:spPr>
          <a:xfrm>
            <a:off x="4480560" y="1508760"/>
            <a:ext cx="3200400" cy="320040"/>
          </a:xfrm>
          <a:prstGeom prst="rect">
            <a:avLst/>
          </a:prstGeom>
          <a:noFill/>
          <a:ln/>
        </p:spPr>
        <p:txBody>
          <a:bodyPr wrap="square" rtlCol="0" anchor="ctr"/>
          <a:lstStyle/>
          <a:p>
            <a:pPr indent="0" marL="0">
              <a:buNone/>
            </a:pPr>
            <a:r>
              <a:rPr lang="en-US" sz="1400" b="1" dirty="0">
                <a:solidFill>
                  <a:srgbClr val="1C2B4A"/>
                </a:solidFill>
              </a:rPr>
              <a:t>05. Attempt Engine</a:t>
            </a:r>
            <a:endParaRPr lang="en-US" sz="1400" dirty="0"/>
          </a:p>
        </p:txBody>
      </p:sp>
      <p:sp>
        <p:nvSpPr>
          <p:cNvPr id="20" name="Text 18"/>
          <p:cNvSpPr/>
          <p:nvPr/>
        </p:nvSpPr>
        <p:spPr>
          <a:xfrm>
            <a:off x="4480560" y="1874520"/>
            <a:ext cx="3200400" cy="457200"/>
          </a:xfrm>
          <a:prstGeom prst="rect">
            <a:avLst/>
          </a:prstGeom>
          <a:noFill/>
          <a:ln/>
        </p:spPr>
        <p:txBody>
          <a:bodyPr wrap="square" rtlCol="0" anchor="ctr"/>
          <a:lstStyle/>
          <a:p>
            <a:pPr indent="0" marL="0">
              <a:buNone/>
            </a:pPr>
            <a:r>
              <a:rPr lang="en-US" sz="1100" dirty="0">
                <a:solidFill>
                  <a:srgbClr val="64748B"/>
                </a:solidFill>
              </a:rPr>
              <a:t>Attempt, AttemptSection, AttemptQuestion</a:t>
            </a:r>
            <a:endParaRPr lang="en-US" sz="1100" dirty="0"/>
          </a:p>
        </p:txBody>
      </p:sp>
      <p:sp>
        <p:nvSpPr>
          <p:cNvPr id="21" name="Shape 19"/>
          <p:cNvSpPr/>
          <p:nvPr/>
        </p:nvSpPr>
        <p:spPr>
          <a:xfrm>
            <a:off x="4297680" y="2606040"/>
            <a:ext cx="3566160" cy="1097280"/>
          </a:xfrm>
          <a:prstGeom prst="roundRect">
            <a:avLst>
              <a:gd name="adj" fmla="val 8333"/>
            </a:avLst>
          </a:prstGeom>
          <a:solidFill>
            <a:srgbClr val="F8FAFC"/>
          </a:solidFill>
          <a:ln w="12700">
            <a:solidFill>
              <a:srgbClr val="CBD5E1"/>
            </a:solidFill>
            <a:prstDash val="solid"/>
          </a:ln>
        </p:spPr>
      </p:sp>
      <p:sp>
        <p:nvSpPr>
          <p:cNvPr id="22" name="Text 20"/>
          <p:cNvSpPr/>
          <p:nvPr/>
        </p:nvSpPr>
        <p:spPr>
          <a:xfrm>
            <a:off x="4480560" y="2743200"/>
            <a:ext cx="3200400" cy="320040"/>
          </a:xfrm>
          <a:prstGeom prst="rect">
            <a:avLst/>
          </a:prstGeom>
          <a:noFill/>
          <a:ln/>
        </p:spPr>
        <p:txBody>
          <a:bodyPr wrap="square" rtlCol="0" anchor="ctr"/>
          <a:lstStyle/>
          <a:p>
            <a:pPr indent="0" marL="0">
              <a:buNone/>
            </a:pPr>
            <a:r>
              <a:rPr lang="en-US" sz="1400" b="1" dirty="0">
                <a:solidFill>
                  <a:srgbClr val="1C2B4A"/>
                </a:solidFill>
              </a:rPr>
              <a:t>06. AI Explanation Cache</a:t>
            </a:r>
            <a:endParaRPr lang="en-US" sz="1400" dirty="0"/>
          </a:p>
        </p:txBody>
      </p:sp>
      <p:sp>
        <p:nvSpPr>
          <p:cNvPr id="23" name="Text 21"/>
          <p:cNvSpPr/>
          <p:nvPr/>
        </p:nvSpPr>
        <p:spPr>
          <a:xfrm>
            <a:off x="4480560" y="3108960"/>
            <a:ext cx="3200400" cy="457200"/>
          </a:xfrm>
          <a:prstGeom prst="rect">
            <a:avLst/>
          </a:prstGeom>
          <a:noFill/>
          <a:ln/>
        </p:spPr>
        <p:txBody>
          <a:bodyPr wrap="square" rtlCol="0" anchor="ctr"/>
          <a:lstStyle/>
          <a:p>
            <a:pPr indent="0" marL="0">
              <a:buNone/>
            </a:pPr>
            <a:r>
              <a:rPr lang="en-US" sz="1100" dirty="0">
                <a:solidFill>
                  <a:srgbClr val="64748B"/>
                </a:solidFill>
              </a:rPr>
              <a:t>AiExplanationCache</a:t>
            </a:r>
            <a:endParaRPr lang="en-US" sz="1100" dirty="0"/>
          </a:p>
        </p:txBody>
      </p:sp>
      <p:sp>
        <p:nvSpPr>
          <p:cNvPr id="24" name="Shape 22"/>
          <p:cNvSpPr/>
          <p:nvPr/>
        </p:nvSpPr>
        <p:spPr>
          <a:xfrm>
            <a:off x="4297680" y="3840480"/>
            <a:ext cx="3566160" cy="1097280"/>
          </a:xfrm>
          <a:prstGeom prst="roundRect">
            <a:avLst>
              <a:gd name="adj" fmla="val 8333"/>
            </a:avLst>
          </a:prstGeom>
          <a:solidFill>
            <a:srgbClr val="F8FAFC"/>
          </a:solidFill>
          <a:ln w="12700">
            <a:solidFill>
              <a:srgbClr val="CBD5E1"/>
            </a:solidFill>
            <a:prstDash val="solid"/>
          </a:ln>
        </p:spPr>
      </p:sp>
      <p:sp>
        <p:nvSpPr>
          <p:cNvPr id="25" name="Text 23"/>
          <p:cNvSpPr/>
          <p:nvPr/>
        </p:nvSpPr>
        <p:spPr>
          <a:xfrm>
            <a:off x="4480560" y="3977640"/>
            <a:ext cx="3200400" cy="320040"/>
          </a:xfrm>
          <a:prstGeom prst="rect">
            <a:avLst/>
          </a:prstGeom>
          <a:noFill/>
          <a:ln/>
        </p:spPr>
        <p:txBody>
          <a:bodyPr wrap="square" rtlCol="0" anchor="ctr"/>
          <a:lstStyle/>
          <a:p>
            <a:pPr indent="0" marL="0">
              <a:buNone/>
            </a:pPr>
            <a:r>
              <a:rPr lang="en-US" sz="1400" b="1" dirty="0">
                <a:solidFill>
                  <a:srgbClr val="1C2B4A"/>
                </a:solidFill>
              </a:rPr>
              <a:t>07. Analytics Rollup</a:t>
            </a:r>
            <a:endParaRPr lang="en-US" sz="1400" dirty="0"/>
          </a:p>
        </p:txBody>
      </p:sp>
      <p:sp>
        <p:nvSpPr>
          <p:cNvPr id="26" name="Text 24"/>
          <p:cNvSpPr/>
          <p:nvPr/>
        </p:nvSpPr>
        <p:spPr>
          <a:xfrm>
            <a:off x="4480560" y="4343400"/>
            <a:ext cx="3200400" cy="457200"/>
          </a:xfrm>
          <a:prstGeom prst="rect">
            <a:avLst/>
          </a:prstGeom>
          <a:noFill/>
          <a:ln/>
        </p:spPr>
        <p:txBody>
          <a:bodyPr wrap="square" rtlCol="0" anchor="ctr"/>
          <a:lstStyle/>
          <a:p>
            <a:pPr indent="0" marL="0">
              <a:buNone/>
            </a:pPr>
            <a:r>
              <a:rPr lang="en-US" sz="1100" dirty="0">
                <a:solidFill>
                  <a:srgbClr val="64748B"/>
                </a:solidFill>
              </a:rPr>
              <a:t>UnitMastery (Accuracy &amp; Weak Chapters)</a:t>
            </a:r>
            <a:endParaRPr lang="en-US" sz="1100" dirty="0"/>
          </a:p>
        </p:txBody>
      </p:sp>
      <p:sp>
        <p:nvSpPr>
          <p:cNvPr id="27" name="Shape 25"/>
          <p:cNvSpPr/>
          <p:nvPr/>
        </p:nvSpPr>
        <p:spPr>
          <a:xfrm>
            <a:off x="4297680" y="5074920"/>
            <a:ext cx="3566160" cy="1097280"/>
          </a:xfrm>
          <a:prstGeom prst="roundRect">
            <a:avLst>
              <a:gd name="adj" fmla="val 8333"/>
            </a:avLst>
          </a:prstGeom>
          <a:solidFill>
            <a:srgbClr val="F8FAFC"/>
          </a:solidFill>
          <a:ln w="12700">
            <a:solidFill>
              <a:srgbClr val="CBD5E1"/>
            </a:solidFill>
            <a:prstDash val="solid"/>
          </a:ln>
        </p:spPr>
      </p:sp>
      <p:sp>
        <p:nvSpPr>
          <p:cNvPr id="28" name="Text 26"/>
          <p:cNvSpPr/>
          <p:nvPr/>
        </p:nvSpPr>
        <p:spPr>
          <a:xfrm>
            <a:off x="4480560" y="5212080"/>
            <a:ext cx="3200400" cy="320040"/>
          </a:xfrm>
          <a:prstGeom prst="rect">
            <a:avLst/>
          </a:prstGeom>
          <a:noFill/>
          <a:ln/>
        </p:spPr>
        <p:txBody>
          <a:bodyPr wrap="square" rtlCol="0" anchor="ctr"/>
          <a:lstStyle/>
          <a:p>
            <a:pPr indent="0" marL="0">
              <a:buNone/>
            </a:pPr>
            <a:r>
              <a:rPr lang="en-US" sz="1400" b="1" dirty="0">
                <a:solidFill>
                  <a:srgbClr val="1C2B4A"/>
                </a:solidFill>
              </a:rPr>
              <a:t>08. Gamification</a:t>
            </a:r>
            <a:endParaRPr lang="en-US" sz="1400" dirty="0"/>
          </a:p>
        </p:txBody>
      </p:sp>
      <p:sp>
        <p:nvSpPr>
          <p:cNvPr id="29" name="Text 27"/>
          <p:cNvSpPr/>
          <p:nvPr/>
        </p:nvSpPr>
        <p:spPr>
          <a:xfrm>
            <a:off x="4480560" y="5577840"/>
            <a:ext cx="3200400" cy="457200"/>
          </a:xfrm>
          <a:prstGeom prst="rect">
            <a:avLst/>
          </a:prstGeom>
          <a:noFill/>
          <a:ln/>
        </p:spPr>
        <p:txBody>
          <a:bodyPr wrap="square" rtlCol="0" anchor="ctr"/>
          <a:lstStyle/>
          <a:p>
            <a:pPr indent="0" marL="0">
              <a:buNone/>
            </a:pPr>
            <a:r>
              <a:rPr lang="en-US" sz="1100" dirty="0">
                <a:solidFill>
                  <a:srgbClr val="64748B"/>
                </a:solidFill>
              </a:rPr>
              <a:t>Streak, Badge, UserBadge, DailyGoal, Notifications</a:t>
            </a:r>
            <a:endParaRPr lang="en-US" sz="1100" dirty="0"/>
          </a:p>
        </p:txBody>
      </p:sp>
      <p:sp>
        <p:nvSpPr>
          <p:cNvPr id="30" name="Shape 28"/>
          <p:cNvSpPr/>
          <p:nvPr/>
        </p:nvSpPr>
        <p:spPr>
          <a:xfrm>
            <a:off x="8046720" y="1371600"/>
            <a:ext cx="3566160" cy="1097280"/>
          </a:xfrm>
          <a:prstGeom prst="roundRect">
            <a:avLst>
              <a:gd name="adj" fmla="val 8333"/>
            </a:avLst>
          </a:prstGeom>
          <a:solidFill>
            <a:srgbClr val="F8FAFC"/>
          </a:solidFill>
          <a:ln w="12700">
            <a:solidFill>
              <a:srgbClr val="CBD5E1"/>
            </a:solidFill>
            <a:prstDash val="solid"/>
          </a:ln>
        </p:spPr>
      </p:sp>
      <p:sp>
        <p:nvSpPr>
          <p:cNvPr id="31" name="Text 29"/>
          <p:cNvSpPr/>
          <p:nvPr/>
        </p:nvSpPr>
        <p:spPr>
          <a:xfrm>
            <a:off x="8229600" y="1508760"/>
            <a:ext cx="3200400" cy="320040"/>
          </a:xfrm>
          <a:prstGeom prst="rect">
            <a:avLst/>
          </a:prstGeom>
          <a:noFill/>
          <a:ln/>
        </p:spPr>
        <p:txBody>
          <a:bodyPr wrap="square" rtlCol="0" anchor="ctr"/>
          <a:lstStyle/>
          <a:p>
            <a:pPr indent="0" marL="0">
              <a:buNone/>
            </a:pPr>
            <a:r>
              <a:rPr lang="en-US" sz="1400" b="1" dirty="0">
                <a:solidFill>
                  <a:srgbClr val="1C2B4A"/>
                </a:solidFill>
              </a:rPr>
              <a:t>09. Study Tools</a:t>
            </a:r>
            <a:endParaRPr lang="en-US" sz="1400" dirty="0"/>
          </a:p>
        </p:txBody>
      </p:sp>
      <p:sp>
        <p:nvSpPr>
          <p:cNvPr id="32" name="Text 30"/>
          <p:cNvSpPr/>
          <p:nvPr/>
        </p:nvSpPr>
        <p:spPr>
          <a:xfrm>
            <a:off x="8229600" y="1874520"/>
            <a:ext cx="3200400" cy="457200"/>
          </a:xfrm>
          <a:prstGeom prst="rect">
            <a:avLst/>
          </a:prstGeom>
          <a:noFill/>
          <a:ln/>
        </p:spPr>
        <p:txBody>
          <a:bodyPr wrap="square" rtlCol="0" anchor="ctr"/>
          <a:lstStyle/>
          <a:p>
            <a:pPr indent="0" marL="0">
              <a:buNone/>
            </a:pPr>
            <a:r>
              <a:rPr lang="en-US" sz="1100" dirty="0">
                <a:solidFill>
                  <a:srgbClr val="64748B"/>
                </a:solidFill>
              </a:rPr>
              <a:t>PomodoroSession, StudyPlan, Flashcards, RevisionNotes</a:t>
            </a:r>
            <a:endParaRPr lang="en-US" sz="1100" dirty="0"/>
          </a:p>
        </p:txBody>
      </p:sp>
      <p:sp>
        <p:nvSpPr>
          <p:cNvPr id="33" name="Shape 31"/>
          <p:cNvSpPr/>
          <p:nvPr/>
        </p:nvSpPr>
        <p:spPr>
          <a:xfrm>
            <a:off x="8046720" y="2606040"/>
            <a:ext cx="3566160" cy="1097280"/>
          </a:xfrm>
          <a:prstGeom prst="roundRect">
            <a:avLst>
              <a:gd name="adj" fmla="val 8333"/>
            </a:avLst>
          </a:prstGeom>
          <a:solidFill>
            <a:srgbClr val="F8FAFC"/>
          </a:solidFill>
          <a:ln w="12700">
            <a:solidFill>
              <a:srgbClr val="CBD5E1"/>
            </a:solidFill>
            <a:prstDash val="solid"/>
          </a:ln>
        </p:spPr>
      </p:sp>
      <p:sp>
        <p:nvSpPr>
          <p:cNvPr id="34" name="Text 32"/>
          <p:cNvSpPr/>
          <p:nvPr/>
        </p:nvSpPr>
        <p:spPr>
          <a:xfrm>
            <a:off x="8229600" y="2743200"/>
            <a:ext cx="3200400" cy="320040"/>
          </a:xfrm>
          <a:prstGeom prst="rect">
            <a:avLst/>
          </a:prstGeom>
          <a:noFill/>
          <a:ln/>
        </p:spPr>
        <p:txBody>
          <a:bodyPr wrap="square" rtlCol="0" anchor="ctr"/>
          <a:lstStyle/>
          <a:p>
            <a:pPr indent="0" marL="0">
              <a:buNone/>
            </a:pPr>
            <a:r>
              <a:rPr lang="en-US" sz="1400" b="1" dirty="0">
                <a:solidFill>
                  <a:srgbClr val="1C2B4A"/>
                </a:solidFill>
              </a:rPr>
              <a:t>10. LMS Content</a:t>
            </a:r>
            <a:endParaRPr lang="en-US" sz="1400" dirty="0"/>
          </a:p>
        </p:txBody>
      </p:sp>
      <p:sp>
        <p:nvSpPr>
          <p:cNvPr id="35" name="Text 33"/>
          <p:cNvSpPr/>
          <p:nvPr/>
        </p:nvSpPr>
        <p:spPr>
          <a:xfrm>
            <a:off x="8229600" y="3108960"/>
            <a:ext cx="3200400" cy="457200"/>
          </a:xfrm>
          <a:prstGeom prst="rect">
            <a:avLst/>
          </a:prstGeom>
          <a:noFill/>
          <a:ln/>
        </p:spPr>
        <p:txBody>
          <a:bodyPr wrap="square" rtlCol="0" anchor="ctr"/>
          <a:lstStyle/>
          <a:p>
            <a:pPr indent="0" marL="0">
              <a:buNone/>
            </a:pPr>
            <a:r>
              <a:rPr lang="en-US" sz="1100" dirty="0">
                <a:solidFill>
                  <a:srgbClr val="64748B"/>
                </a:solidFill>
              </a:rPr>
              <a:t>Lesson, LessonVideo, LessonResource, Bookmark</a:t>
            </a:r>
            <a:endParaRPr lang="en-US" sz="1100" dirty="0"/>
          </a:p>
        </p:txBody>
      </p:sp>
      <p:sp>
        <p:nvSpPr>
          <p:cNvPr id="36" name="Shape 34"/>
          <p:cNvSpPr/>
          <p:nvPr/>
        </p:nvSpPr>
        <p:spPr>
          <a:xfrm>
            <a:off x="8046720" y="3840480"/>
            <a:ext cx="3566160" cy="1097280"/>
          </a:xfrm>
          <a:prstGeom prst="roundRect">
            <a:avLst>
              <a:gd name="adj" fmla="val 8333"/>
            </a:avLst>
          </a:prstGeom>
          <a:solidFill>
            <a:srgbClr val="F8FAFC"/>
          </a:solidFill>
          <a:ln w="12700">
            <a:solidFill>
              <a:srgbClr val="CBD5E1"/>
            </a:solidFill>
            <a:prstDash val="solid"/>
          </a:ln>
        </p:spPr>
      </p:sp>
      <p:sp>
        <p:nvSpPr>
          <p:cNvPr id="37" name="Text 35"/>
          <p:cNvSpPr/>
          <p:nvPr/>
        </p:nvSpPr>
        <p:spPr>
          <a:xfrm>
            <a:off x="8229600" y="3977640"/>
            <a:ext cx="3200400" cy="320040"/>
          </a:xfrm>
          <a:prstGeom prst="rect">
            <a:avLst/>
          </a:prstGeom>
          <a:noFill/>
          <a:ln/>
        </p:spPr>
        <p:txBody>
          <a:bodyPr wrap="square" rtlCol="0" anchor="ctr"/>
          <a:lstStyle/>
          <a:p>
            <a:pPr indent="0" marL="0">
              <a:buNone/>
            </a:pPr>
            <a:r>
              <a:rPr lang="en-US" sz="1400" b="1" dirty="0">
                <a:solidFill>
                  <a:srgbClr val="1C2B4A"/>
                </a:solidFill>
              </a:rPr>
              <a:t>11. Institutions (B2B)</a:t>
            </a:r>
            <a:endParaRPr lang="en-US" sz="1400" dirty="0"/>
          </a:p>
        </p:txBody>
      </p:sp>
      <p:sp>
        <p:nvSpPr>
          <p:cNvPr id="38" name="Text 36"/>
          <p:cNvSpPr/>
          <p:nvPr/>
        </p:nvSpPr>
        <p:spPr>
          <a:xfrm>
            <a:off x="8229600" y="4343400"/>
            <a:ext cx="3200400" cy="457200"/>
          </a:xfrm>
          <a:prstGeom prst="rect">
            <a:avLst/>
          </a:prstGeom>
          <a:noFill/>
          <a:ln/>
        </p:spPr>
        <p:txBody>
          <a:bodyPr wrap="square" rtlCol="0" anchor="ctr"/>
          <a:lstStyle/>
          <a:p>
            <a:pPr indent="0" marL="0">
              <a:buNone/>
            </a:pPr>
            <a:r>
              <a:rPr lang="en-US" sz="1100" dirty="0">
                <a:solidFill>
                  <a:srgbClr val="64748B"/>
                </a:solidFill>
              </a:rPr>
              <a:t>School, SchoolAdmin</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1C2B4A"/>
          </a:solidFill>
          <a:ln w="12700">
            <a:solidFill>
              <a:srgbClr val="1C2B4A"/>
            </a:solidFill>
            <a:prstDash val="solid"/>
          </a:ln>
        </p:spPr>
      </p:sp>
      <p:sp>
        <p:nvSpPr>
          <p:cNvPr id="3" name="Text 1"/>
          <p:cNvSpPr/>
          <p:nvPr/>
        </p:nvSpPr>
        <p:spPr>
          <a:xfrm>
            <a:off x="548640" y="182880"/>
            <a:ext cx="10972800" cy="411480"/>
          </a:xfrm>
          <a:prstGeom prst="rect">
            <a:avLst/>
          </a:prstGeom>
          <a:noFill/>
          <a:ln/>
        </p:spPr>
        <p:txBody>
          <a:bodyPr wrap="square" rtlCol="0" anchor="ctr"/>
          <a:lstStyle/>
          <a:p>
            <a:pPr indent="0" marL="0">
              <a:buNone/>
            </a:pPr>
            <a:r>
              <a:rPr lang="en-US" sz="2400" b="1" dirty="0">
                <a:solidFill>
                  <a:srgbClr val="FFFFFF"/>
                </a:solidFill>
              </a:rPr>
              <a:t>3. Module 1: Identity, Security &amp; Profiles</a:t>
            </a:r>
            <a:endParaRPr lang="en-US" sz="2400" dirty="0"/>
          </a:p>
        </p:txBody>
      </p:sp>
      <p:sp>
        <p:nvSpPr>
          <p:cNvPr id="4" name="Text 2"/>
          <p:cNvSpPr/>
          <p:nvPr/>
        </p:nvSpPr>
        <p:spPr>
          <a:xfrm>
            <a:off x="548640" y="594360"/>
            <a:ext cx="10972800" cy="320040"/>
          </a:xfrm>
          <a:prstGeom prst="rect">
            <a:avLst/>
          </a:prstGeom>
          <a:noFill/>
          <a:ln/>
        </p:spPr>
        <p:txBody>
          <a:bodyPr wrap="square" rtlCol="0" anchor="ctr"/>
          <a:lstStyle/>
          <a:p>
            <a:pPr indent="0" marL="0">
              <a:buNone/>
            </a:pPr>
            <a:r>
              <a:rPr lang="en-US" sz="1400" dirty="0">
                <a:solidFill>
                  <a:srgbClr val="94A3B8"/>
                </a:solidFill>
              </a:rPr>
              <a:t>User management, Supabase Auth integration, and NTA reservation categories</a:t>
            </a:r>
            <a:endParaRPr lang="en-US" sz="1400" dirty="0"/>
          </a:p>
        </p:txBody>
      </p:sp>
      <p:sp>
        <p:nvSpPr>
          <p:cNvPr id="5" name="Text 3"/>
          <p:cNvSpPr/>
          <p:nvPr/>
        </p:nvSpPr>
        <p:spPr>
          <a:xfrm>
            <a:off x="548640" y="6492240"/>
            <a:ext cx="10972800" cy="274320"/>
          </a:xfrm>
          <a:prstGeom prst="rect">
            <a:avLst/>
          </a:prstGeom>
          <a:noFill/>
          <a:ln/>
        </p:spPr>
        <p:txBody>
          <a:bodyPr wrap="square" rtlCol="0" anchor="ctr"/>
          <a:lstStyle/>
          <a:p>
            <a:pPr indent="0" marL="0">
              <a:buNone/>
            </a:pPr>
            <a:r>
              <a:rPr lang="en-US" sz="1000" dirty="0">
                <a:solidFill>
                  <a:srgbClr val="64748B"/>
                </a:solidFill>
              </a:rPr>
              <a:t>Lumen Academy Database Architecture  |  Slide 4 of 10</a:t>
            </a:r>
            <a:endParaRPr lang="en-US" sz="1000" dirty="0"/>
          </a:p>
        </p:txBody>
      </p:sp>
      <p:sp>
        <p:nvSpPr>
          <p:cNvPr id="6" name="Shape 4"/>
          <p:cNvSpPr/>
          <p:nvPr/>
        </p:nvSpPr>
        <p:spPr>
          <a:xfrm>
            <a:off x="731520" y="1463040"/>
            <a:ext cx="5120640" cy="4572000"/>
          </a:xfrm>
          <a:prstGeom prst="roundRect">
            <a:avLst>
              <a:gd name="adj" fmla="val 3000"/>
            </a:avLst>
          </a:prstGeom>
          <a:solidFill>
            <a:srgbClr val="EFF6FF"/>
          </a:solidFill>
          <a:ln w="12700">
            <a:solidFill>
              <a:srgbClr val="BFDBFE"/>
            </a:solidFill>
            <a:prstDash val="solid"/>
          </a:ln>
        </p:spPr>
      </p:sp>
      <p:sp>
        <p:nvSpPr>
          <p:cNvPr id="7" name="Text 5"/>
          <p:cNvSpPr/>
          <p:nvPr/>
        </p:nvSpPr>
        <p:spPr>
          <a:xfrm>
            <a:off x="1005840" y="1645920"/>
            <a:ext cx="4572000" cy="365760"/>
          </a:xfrm>
          <a:prstGeom prst="rect">
            <a:avLst/>
          </a:prstGeom>
          <a:noFill/>
          <a:ln/>
        </p:spPr>
        <p:txBody>
          <a:bodyPr wrap="square" rtlCol="0" anchor="ctr"/>
          <a:lstStyle/>
          <a:p>
            <a:pPr indent="0" marL="0">
              <a:buNone/>
            </a:pPr>
            <a:r>
              <a:rPr lang="en-US" sz="1800" b="1" dirty="0">
                <a:solidFill>
                  <a:srgbClr val="2563EB"/>
                </a:solidFill>
              </a:rPr>
              <a:t>User &amp; Profile Model Fields</a:t>
            </a:r>
            <a:endParaRPr lang="en-US" sz="1800" dirty="0"/>
          </a:p>
        </p:txBody>
      </p:sp>
      <p:sp>
        <p:nvSpPr>
          <p:cNvPr id="8" name="Text 6"/>
          <p:cNvSpPr/>
          <p:nvPr/>
        </p:nvSpPr>
        <p:spPr>
          <a:xfrm>
            <a:off x="1005840" y="2103120"/>
            <a:ext cx="4572000" cy="3657600"/>
          </a:xfrm>
          <a:prstGeom prst="rect">
            <a:avLst/>
          </a:prstGeom>
          <a:noFill/>
          <a:ln/>
        </p:spPr>
        <p:txBody>
          <a:bodyPr wrap="square" rtlCol="0" anchor="ctr"/>
          <a:lstStyle/>
          <a:p>
            <a:pPr indent="0" marL="0">
              <a:lnSpc>
                <a:spcPts val="2000"/>
              </a:lnSpc>
              <a:buNone/>
            </a:pPr>
            <a:r>
              <a:rPr lang="en-US" sz="1300" dirty="0">
                <a:solidFill>
                  <a:srgbClr val="1F2937"/>
                </a:solidFill>
              </a:rPr>
              <a:t>• User.id: Primary key matching Supabase auth.users.id</a:t>
            </a:r>
            <a:endParaRPr lang="en-US" sz="1300" dirty="0"/>
          </a:p>
          <a:p>
            <a:pPr indent="0" marL="0">
              <a:lnSpc>
                <a:spcPts val="2000"/>
              </a:lnSpc>
              <a:buNone/>
            </a:pPr>
            <a:r>
              <a:rPr lang="en-US" sz="1300" dirty="0">
                <a:solidFill>
                  <a:srgbClr val="1F2937"/>
                </a:solidFill>
              </a:rPr>
              <a:t>• User.email: Unique user email address</a:t>
            </a:r>
            <a:endParaRPr lang="en-US" sz="1300" dirty="0"/>
          </a:p>
          <a:p>
            <a:pPr indent="0" marL="0">
              <a:lnSpc>
                <a:spcPts val="2000"/>
              </a:lnSpc>
              <a:buNone/>
            </a:pPr>
            <a:r>
              <a:rPr lang="en-US" sz="1300" dirty="0">
                <a:solidFill>
                  <a:srgbClr val="1F2937"/>
                </a:solidFill>
              </a:rPr>
              <a:t>• User.phone: Contact phone number</a:t>
            </a:r>
            <a:endParaRPr lang="en-US" sz="1300" dirty="0"/>
          </a:p>
          <a:p>
            <a:pPr indent="0" marL="0">
              <a:lnSpc>
                <a:spcPts val="2000"/>
              </a:lnSpc>
              <a:buNone/>
            </a:pPr>
            <a:r>
              <a:rPr lang="en-US" sz="1300" dirty="0">
                <a:solidFill>
                  <a:srgbClr val="1F2937"/>
                </a:solidFill>
              </a:rPr>
              <a:t>• User.passwordHash: Hashed credential string</a:t>
            </a:r>
            <a:endParaRPr lang="en-US" sz="1300" dirty="0"/>
          </a:p>
          <a:p>
            <a:pPr indent="0" marL="0">
              <a:lnSpc>
                <a:spcPts val="2000"/>
              </a:lnSpc>
              <a:buNone/>
            </a:pPr>
            <a:r>
              <a:rPr lang="en-US" sz="1300" dirty="0">
                <a:solidFill>
                  <a:srgbClr val="1F2937"/>
                </a:solidFill>
              </a:rPr>
              <a:t>• User.role: STUDENT | FACULTY | ADMIN</a:t>
            </a:r>
            <a:endParaRPr lang="en-US" sz="1300" dirty="0"/>
          </a:p>
          <a:p>
            <a:pPr indent="0" marL="0">
              <a:lnSpc>
                <a:spcPts val="2000"/>
              </a:lnSpc>
              <a:buNone/>
            </a:pPr>
            <a:r>
              <a:rPr lang="en-US" sz="1300" dirty="0">
                <a:solidFill>
                  <a:srgbClr val="1F2937"/>
                </a:solidFill>
              </a:rPr>
              <a:t>• StudentProfile.class: Class 11 or 12</a:t>
            </a:r>
            <a:endParaRPr lang="en-US" sz="1300" dirty="0"/>
          </a:p>
          <a:p>
            <a:pPr indent="0" marL="0">
              <a:lnSpc>
                <a:spcPts val="2000"/>
              </a:lnSpc>
              <a:buNone/>
            </a:pPr>
            <a:r>
              <a:rPr lang="en-US" sz="1300" dirty="0">
                <a:solidFill>
                  <a:srgbClr val="1F2937"/>
                </a:solidFill>
              </a:rPr>
              <a:t>• StudentProfile.examYear: 2026 / 2027</a:t>
            </a:r>
            <a:endParaRPr lang="en-US" sz="1300" dirty="0"/>
          </a:p>
          <a:p>
            <a:pPr indent="0" marL="0">
              <a:lnSpc>
                <a:spcPts val="2000"/>
              </a:lnSpc>
              <a:buNone/>
            </a:pPr>
            <a:r>
              <a:rPr lang="en-US" sz="1300" dirty="0">
                <a:solidFill>
                  <a:srgbClr val="1F2937"/>
                </a:solidFill>
              </a:rPr>
              <a:t>• StudentProfile.category: GENERAL | EWS | OBC_NCL | SC | ST</a:t>
            </a:r>
            <a:endParaRPr lang="en-US" sz="1300" dirty="0"/>
          </a:p>
          <a:p>
            <a:pPr indent="0" marL="0">
              <a:lnSpc>
                <a:spcPts val="2000"/>
              </a:lnSpc>
              <a:buNone/>
            </a:pPr>
            <a:r>
              <a:rPr lang="en-US" sz="1300" dirty="0">
                <a:solidFill>
                  <a:srgbClr val="1F2937"/>
                </a:solidFill>
              </a:rPr>
              <a:t>• AuditLog: Security trail with hashed IPs</a:t>
            </a:r>
            <a:endParaRPr lang="en-US" sz="1300" dirty="0"/>
          </a:p>
        </p:txBody>
      </p:sp>
      <p:sp>
        <p:nvSpPr>
          <p:cNvPr id="9" name="Shape 7"/>
          <p:cNvSpPr/>
          <p:nvPr/>
        </p:nvSpPr>
        <p:spPr>
          <a:xfrm>
            <a:off x="6217920" y="1463040"/>
            <a:ext cx="5212080" cy="4572000"/>
          </a:xfrm>
          <a:prstGeom prst="roundRect">
            <a:avLst>
              <a:gd name="adj" fmla="val 3000"/>
            </a:avLst>
          </a:prstGeom>
          <a:solidFill>
            <a:srgbClr val="ECFDF5"/>
          </a:solidFill>
          <a:ln w="12700">
            <a:solidFill>
              <a:srgbClr val="A7F3D0"/>
            </a:solidFill>
            <a:prstDash val="solid"/>
          </a:ln>
        </p:spPr>
      </p:sp>
      <p:sp>
        <p:nvSpPr>
          <p:cNvPr id="10" name="Text 8"/>
          <p:cNvSpPr/>
          <p:nvPr/>
        </p:nvSpPr>
        <p:spPr>
          <a:xfrm>
            <a:off x="6492240" y="1645920"/>
            <a:ext cx="4572000" cy="365760"/>
          </a:xfrm>
          <a:prstGeom prst="rect">
            <a:avLst/>
          </a:prstGeom>
          <a:noFill/>
          <a:ln/>
        </p:spPr>
        <p:txBody>
          <a:bodyPr wrap="square" rtlCol="0" anchor="ctr"/>
          <a:lstStyle/>
          <a:p>
            <a:pPr indent="0" marL="0">
              <a:buNone/>
            </a:pPr>
            <a:r>
              <a:rPr lang="en-US" sz="1800" b="1" dirty="0">
                <a:solidFill>
                  <a:srgbClr val="059669"/>
                </a:solidFill>
              </a:rPr>
              <a:t>🎯 AIR Rank Predictor Inputs</a:t>
            </a:r>
            <a:endParaRPr lang="en-US" sz="1800" dirty="0"/>
          </a:p>
        </p:txBody>
      </p:sp>
      <p:sp>
        <p:nvSpPr>
          <p:cNvPr id="11" name="Text 9"/>
          <p:cNvSpPr/>
          <p:nvPr/>
        </p:nvSpPr>
        <p:spPr>
          <a:xfrm>
            <a:off x="6492240" y="2103120"/>
            <a:ext cx="4663440" cy="3657600"/>
          </a:xfrm>
          <a:prstGeom prst="rect">
            <a:avLst/>
          </a:prstGeom>
          <a:noFill/>
          <a:ln/>
        </p:spPr>
        <p:txBody>
          <a:bodyPr wrap="square" rtlCol="0" anchor="ctr"/>
          <a:lstStyle/>
          <a:p>
            <a:pPr indent="0" marL="0">
              <a:lnSpc>
                <a:spcPts val="1800"/>
              </a:lnSpc>
              <a:buNone/>
            </a:pPr>
            <a:r>
              <a:rPr lang="en-US" sz="1300" dirty="0">
                <a:solidFill>
                  <a:srgbClr val="1F2937"/>
                </a:solidFill>
              </a:rPr>
              <a:t>NTA Exam Rank Calculation Factors:</a:t>
            </a:r>
            <a:endParaRPr lang="en-US" sz="1300" dirty="0"/>
          </a:p>
          <a:p>
            <a:pPr indent="0" marL="0">
              <a:lnSpc>
                <a:spcPts val="1800"/>
              </a:lnSpc>
              <a:buNone/>
            </a:pPr>
            <a:endParaRPr lang="en-US" sz="1300" dirty="0"/>
          </a:p>
          <a:p>
            <a:pPr indent="0" marL="0">
              <a:lnSpc>
                <a:spcPts val="1800"/>
              </a:lnSpc>
              <a:buNone/>
            </a:pPr>
            <a:r>
              <a:rPr lang="en-US" sz="1300" dirty="0">
                <a:solidFill>
                  <a:srgbClr val="1F2937"/>
                </a:solidFill>
              </a:rPr>
              <a:t>1. Reservation Category:</a:t>
            </a:r>
            <a:endParaRPr lang="en-US" sz="1300" dirty="0"/>
          </a:p>
          <a:p>
            <a:pPr indent="0" marL="0">
              <a:lnSpc>
                <a:spcPts val="1800"/>
              </a:lnSpc>
              <a:buNone/>
            </a:pPr>
            <a:r>
              <a:rPr lang="en-US" sz="1300" dirty="0">
                <a:solidFill>
                  <a:srgbClr val="1F2937"/>
                </a:solidFill>
              </a:rPr>
              <a:t>   Maps to NTA cutoffs (General, EWS, OBC-NCL, SC, ST).</a:t>
            </a:r>
            <a:endParaRPr lang="en-US" sz="1300" dirty="0"/>
          </a:p>
          <a:p>
            <a:pPr indent="0" marL="0">
              <a:lnSpc>
                <a:spcPts val="1800"/>
              </a:lnSpc>
              <a:buNone/>
            </a:pPr>
            <a:endParaRPr lang="en-US" sz="1300" dirty="0"/>
          </a:p>
          <a:p>
            <a:pPr indent="0" marL="0">
              <a:lnSpc>
                <a:spcPts val="1800"/>
              </a:lnSpc>
              <a:buNone/>
            </a:pPr>
            <a:r>
              <a:rPr lang="en-US" sz="1300" dirty="0">
                <a:solidFill>
                  <a:srgbClr val="1F2937"/>
                </a:solidFill>
              </a:rPr>
              <a:t>2. Home State:</a:t>
            </a:r>
            <a:endParaRPr lang="en-US" sz="1300" dirty="0"/>
          </a:p>
          <a:p>
            <a:pPr indent="0" marL="0">
              <a:lnSpc>
                <a:spcPts val="1800"/>
              </a:lnSpc>
              <a:buNone/>
            </a:pPr>
            <a:r>
              <a:rPr lang="en-US" sz="1300" dirty="0">
                <a:solidFill>
                  <a:srgbClr val="1F2937"/>
                </a:solidFill>
              </a:rPr>
              <a:t>   Powers state counselling &amp; home-state quota prediction.</a:t>
            </a:r>
            <a:endParaRPr lang="en-US" sz="1300" dirty="0"/>
          </a:p>
          <a:p>
            <a:pPr indent="0" marL="0">
              <a:lnSpc>
                <a:spcPts val="1800"/>
              </a:lnSpc>
              <a:buNone/>
            </a:pPr>
            <a:endParaRPr lang="en-US" sz="1300" dirty="0"/>
          </a:p>
          <a:p>
            <a:pPr indent="0" marL="0">
              <a:lnSpc>
                <a:spcPts val="1800"/>
              </a:lnSpc>
              <a:buNone/>
            </a:pPr>
            <a:r>
              <a:rPr lang="en-US" sz="1300" dirty="0">
                <a:solidFill>
                  <a:srgbClr val="1F2937"/>
                </a:solidFill>
              </a:rPr>
              <a:t>3. Target Exam:</a:t>
            </a:r>
            <a:endParaRPr lang="en-US" sz="1300" dirty="0"/>
          </a:p>
          <a:p>
            <a:pPr indent="0" marL="0">
              <a:lnSpc>
                <a:spcPts val="1800"/>
              </a:lnSpc>
              <a:buNone/>
            </a:pPr>
            <a:r>
              <a:rPr lang="en-US" sz="1300" dirty="0">
                <a:solidFill>
                  <a:srgbClr val="1F2937"/>
                </a:solidFill>
              </a:rPr>
              <a:t>   NEET, JEE Main, or JEE Advanced dashboard mode.</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1C2B4A"/>
          </a:solidFill>
          <a:ln w="12700">
            <a:solidFill>
              <a:srgbClr val="1C2B4A"/>
            </a:solidFill>
            <a:prstDash val="solid"/>
          </a:ln>
        </p:spPr>
      </p:sp>
      <p:sp>
        <p:nvSpPr>
          <p:cNvPr id="3" name="Text 1"/>
          <p:cNvSpPr/>
          <p:nvPr/>
        </p:nvSpPr>
        <p:spPr>
          <a:xfrm>
            <a:off x="548640" y="182880"/>
            <a:ext cx="10972800" cy="411480"/>
          </a:xfrm>
          <a:prstGeom prst="rect">
            <a:avLst/>
          </a:prstGeom>
          <a:noFill/>
          <a:ln/>
        </p:spPr>
        <p:txBody>
          <a:bodyPr wrap="square" rtlCol="0" anchor="ctr"/>
          <a:lstStyle/>
          <a:p>
            <a:pPr indent="0" marL="0">
              <a:buNone/>
            </a:pPr>
            <a:r>
              <a:rPr lang="en-US" sz="2400" b="1" dirty="0">
                <a:solidFill>
                  <a:srgbClr val="FFFFFF"/>
                </a:solidFill>
              </a:rPr>
              <a:t>4. Module 3: Question Bank &amp; Review Lifecycle</a:t>
            </a:r>
            <a:endParaRPr lang="en-US" sz="2400" dirty="0"/>
          </a:p>
        </p:txBody>
      </p:sp>
      <p:sp>
        <p:nvSpPr>
          <p:cNvPr id="4" name="Text 2"/>
          <p:cNvSpPr/>
          <p:nvPr/>
        </p:nvSpPr>
        <p:spPr>
          <a:xfrm>
            <a:off x="548640" y="594360"/>
            <a:ext cx="10972800" cy="320040"/>
          </a:xfrm>
          <a:prstGeom prst="rect">
            <a:avLst/>
          </a:prstGeom>
          <a:noFill/>
          <a:ln/>
        </p:spPr>
        <p:txBody>
          <a:bodyPr wrap="square" rtlCol="0" anchor="ctr"/>
          <a:lstStyle/>
          <a:p>
            <a:pPr indent="0" marL="0">
              <a:buNone/>
            </a:pPr>
            <a:r>
              <a:rPr lang="en-US" sz="1400" dirty="0">
                <a:solidFill>
                  <a:srgbClr val="94A3B8"/>
                </a:solidFill>
              </a:rPr>
              <a:t>Support for 5 NEET/JEE interaction formats and editorial publishing pipeline</a:t>
            </a:r>
            <a:endParaRPr lang="en-US" sz="1400" dirty="0"/>
          </a:p>
        </p:txBody>
      </p:sp>
      <p:sp>
        <p:nvSpPr>
          <p:cNvPr id="5" name="Text 3"/>
          <p:cNvSpPr/>
          <p:nvPr/>
        </p:nvSpPr>
        <p:spPr>
          <a:xfrm>
            <a:off x="548640" y="6492240"/>
            <a:ext cx="10972800" cy="274320"/>
          </a:xfrm>
          <a:prstGeom prst="rect">
            <a:avLst/>
          </a:prstGeom>
          <a:noFill/>
          <a:ln/>
        </p:spPr>
        <p:txBody>
          <a:bodyPr wrap="square" rtlCol="0" anchor="ctr"/>
          <a:lstStyle/>
          <a:p>
            <a:pPr indent="0" marL="0">
              <a:buNone/>
            </a:pPr>
            <a:r>
              <a:rPr lang="en-US" sz="1000" dirty="0">
                <a:solidFill>
                  <a:srgbClr val="64748B"/>
                </a:solidFill>
              </a:rPr>
              <a:t>Lumen Academy Database Architecture  |  Slide 5 of 10</a:t>
            </a:r>
            <a:endParaRPr lang="en-US" sz="1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731520" y="1463040"/>
          <a:ext cx="10698480" cy="914400"/>
        </p:xfrm>
        <a:graphic>
          <a:graphicData uri="http://schemas.openxmlformats.org/drawingml/2006/table">
            <a:tbl>
              <a:tblPr/>
              <a:tblGrid>
                <a:gridCol w="2286000"/>
                <a:gridCol w="2926080"/>
                <a:gridCol w="5486400"/>
              </a:tblGrid>
              <a:tr h="0">
                <a:tc>
                  <a:txBody>
                    <a:bodyPr/>
                    <a:lstStyle/>
                    <a:p>
                      <a:pPr indent="0" marL="0">
                        <a:buNone/>
                      </a:pPr>
                      <a:r>
                        <a:rPr lang="en-US" sz="1200" b="1" dirty="0">
                          <a:solidFill>
                            <a:srgbClr val="FFFFFF"/>
                          </a:solidFill>
                        </a:rPr>
                        <a:t>Question Type</a:t>
                      </a:r>
                      <a:endParaRPr lang="en-US" sz="12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C2B4A"/>
                    </a:solidFill>
                  </a:tcPr>
                </a:tc>
                <a:tc>
                  <a:txBody>
                    <a:bodyPr/>
                    <a:lstStyle/>
                    <a:p>
                      <a:pPr indent="0" marL="0">
                        <a:buNone/>
                      </a:pPr>
                      <a:r>
                        <a:rPr lang="en-US" sz="1200" b="1" dirty="0">
                          <a:solidFill>
                            <a:srgbClr val="FFFFFF"/>
                          </a:solidFill>
                        </a:rPr>
                        <a:t>Supported Exams</a:t>
                      </a:r>
                      <a:endParaRPr lang="en-US" sz="12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C2B4A"/>
                    </a:solidFill>
                  </a:tcPr>
                </a:tc>
                <a:tc>
                  <a:txBody>
                    <a:bodyPr/>
                    <a:lstStyle/>
                    <a:p>
                      <a:pPr indent="0" marL="0">
                        <a:buNone/>
                      </a:pPr>
                      <a:r>
                        <a:rPr lang="en-US" sz="1200" b="1" dirty="0">
                          <a:solidFill>
                            <a:srgbClr val="FFFFFF"/>
                          </a:solidFill>
                        </a:rPr>
                        <a:t>Grading Mechanism</a:t>
                      </a:r>
                      <a:endParaRPr lang="en-US" sz="12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C2B4A"/>
                    </a:solidFill>
                  </a:tcPr>
                </a:tc>
              </a:tr>
              <a:tr h="0">
                <a:tc>
                  <a:txBody>
                    <a:bodyPr/>
                    <a:lstStyle/>
                    <a:p>
                      <a:pPr indent="0" marL="0">
                        <a:buNone/>
                      </a:pPr>
                      <a:r>
                        <a:rPr lang="en-US" sz="1200" dirty="0">
                          <a:solidFill>
                            <a:srgbClr val="000000"/>
                          </a:solidFill>
                        </a:rPr>
                        <a:t>SINGLE_CORRECT</a:t>
                      </a:r>
                      <a:endParaRPr lang="en-US" sz="12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200" dirty="0">
                          <a:solidFill>
                            <a:srgbClr val="000000"/>
                          </a:solidFill>
                        </a:rPr>
                        <a:t>NEET, JEE Main, JEE Adv</a:t>
                      </a:r>
                      <a:endParaRPr lang="en-US" sz="12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200" dirty="0">
                          <a:solidFill>
                            <a:srgbClr val="000000"/>
                          </a:solidFill>
                        </a:rPr>
                        <a:t>Graded against Option.isCorrect</a:t>
                      </a:r>
                      <a:endParaRPr lang="en-US" sz="12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r h="0">
                <a:tc>
                  <a:txBody>
                    <a:bodyPr/>
                    <a:lstStyle/>
                    <a:p>
                      <a:pPr indent="0" marL="0">
                        <a:buNone/>
                      </a:pPr>
                      <a:r>
                        <a:rPr lang="en-US" sz="1200" dirty="0">
                          <a:solidFill>
                            <a:srgbClr val="000000"/>
                          </a:solidFill>
                        </a:rPr>
                        <a:t>MULTIPLE_CORRECT</a:t>
                      </a:r>
                      <a:endParaRPr lang="en-US" sz="12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200" dirty="0">
                          <a:solidFill>
                            <a:srgbClr val="000000"/>
                          </a:solidFill>
                        </a:rPr>
                        <a:t>JEE Advanced</a:t>
                      </a:r>
                      <a:endParaRPr lang="en-US" sz="12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200" dirty="0">
                          <a:solidFill>
                            <a:srgbClr val="000000"/>
                          </a:solidFill>
                        </a:rPr>
                        <a:t>Partial / All-or-Nothing scoring config</a:t>
                      </a:r>
                      <a:endParaRPr lang="en-US" sz="12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r h="0">
                <a:tc>
                  <a:txBody>
                    <a:bodyPr/>
                    <a:lstStyle/>
                    <a:p>
                      <a:pPr indent="0" marL="0">
                        <a:buNone/>
                      </a:pPr>
                      <a:r>
                        <a:rPr lang="en-US" sz="1200" dirty="0">
                          <a:solidFill>
                            <a:srgbClr val="000000"/>
                          </a:solidFill>
                        </a:rPr>
                        <a:t>NUMERICAL</a:t>
                      </a:r>
                      <a:endParaRPr lang="en-US" sz="12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200" dirty="0">
                          <a:solidFill>
                            <a:srgbClr val="000000"/>
                          </a:solidFill>
                        </a:rPr>
                        <a:t>JEE Main, JEE Adv</a:t>
                      </a:r>
                      <a:endParaRPr lang="en-US" sz="12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200" dirty="0">
                          <a:solidFill>
                            <a:srgbClr val="000000"/>
                          </a:solidFill>
                        </a:rPr>
                        <a:t>Graded within numericalTolerance</a:t>
                      </a:r>
                      <a:endParaRPr lang="en-US" sz="12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r h="0">
                <a:tc>
                  <a:txBody>
                    <a:bodyPr/>
                    <a:lstStyle/>
                    <a:p>
                      <a:pPr indent="0" marL="0">
                        <a:buNone/>
                      </a:pPr>
                      <a:r>
                        <a:rPr lang="en-US" sz="1200" dirty="0">
                          <a:solidFill>
                            <a:srgbClr val="000000"/>
                          </a:solidFill>
                        </a:rPr>
                        <a:t>MATCHING</a:t>
                      </a:r>
                      <a:endParaRPr lang="en-US" sz="12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200" dirty="0">
                          <a:solidFill>
                            <a:srgbClr val="000000"/>
                          </a:solidFill>
                        </a:rPr>
                        <a:t>JEE Advanced</a:t>
                      </a:r>
                      <a:endParaRPr lang="en-US" sz="12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200" dirty="0">
                          <a:solidFill>
                            <a:srgbClr val="000000"/>
                          </a:solidFill>
                        </a:rPr>
                        <a:t>Structured left/right item mapping</a:t>
                      </a:r>
                      <a:endParaRPr lang="en-US" sz="12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r h="0">
                <a:tc>
                  <a:txBody>
                    <a:bodyPr/>
                    <a:lstStyle/>
                    <a:p>
                      <a:pPr indent="0" marL="0">
                        <a:buNone/>
                      </a:pPr>
                      <a:r>
                        <a:rPr lang="en-US" sz="1200" dirty="0">
                          <a:solidFill>
                            <a:srgbClr val="000000"/>
                          </a:solidFill>
                        </a:rPr>
                        <a:t>ASSERTION_REASON</a:t>
                      </a:r>
                      <a:endParaRPr lang="en-US" sz="12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200" dirty="0">
                          <a:solidFill>
                            <a:srgbClr val="000000"/>
                          </a:solidFill>
                        </a:rPr>
                        <a:t>JEE Advanced</a:t>
                      </a:r>
                      <a:endParaRPr lang="en-US" sz="12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200" dirty="0">
                          <a:solidFill>
                            <a:srgbClr val="000000"/>
                          </a:solidFill>
                        </a:rPr>
                        <a:t>Assertion &amp; Reason pair evaluation</a:t>
                      </a:r>
                      <a:endParaRPr lang="en-US" sz="12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bl>
          </a:graphicData>
        </a:graphic>
      </p:graphicFrame>
      <p:sp>
        <p:nvSpPr>
          <p:cNvPr id="7" name="Shape 4"/>
          <p:cNvSpPr/>
          <p:nvPr/>
        </p:nvSpPr>
        <p:spPr>
          <a:xfrm>
            <a:off x="731520" y="4389120"/>
            <a:ext cx="10698480" cy="1645920"/>
          </a:xfrm>
          <a:prstGeom prst="roundRect">
            <a:avLst>
              <a:gd name="adj" fmla="val 5556"/>
            </a:avLst>
          </a:prstGeom>
          <a:solidFill>
            <a:srgbClr val="EFF6FF"/>
          </a:solidFill>
          <a:ln w="12700">
            <a:solidFill>
              <a:srgbClr val="BFDBFE"/>
            </a:solidFill>
            <a:prstDash val="solid"/>
          </a:ln>
        </p:spPr>
      </p:sp>
      <p:sp>
        <p:nvSpPr>
          <p:cNvPr id="8" name="Text 5"/>
          <p:cNvSpPr/>
          <p:nvPr/>
        </p:nvSpPr>
        <p:spPr>
          <a:xfrm>
            <a:off x="914400" y="4572000"/>
            <a:ext cx="10332720" cy="320040"/>
          </a:xfrm>
          <a:prstGeom prst="rect">
            <a:avLst/>
          </a:prstGeom>
          <a:noFill/>
          <a:ln/>
        </p:spPr>
        <p:txBody>
          <a:bodyPr wrap="square" rtlCol="0" anchor="ctr"/>
          <a:lstStyle/>
          <a:p>
            <a:pPr indent="0" marL="0">
              <a:buNone/>
            </a:pPr>
            <a:r>
              <a:rPr lang="en-US" sz="1600" b="1" dirty="0">
                <a:solidFill>
                  <a:srgbClr val="2563EB"/>
                </a:solidFill>
              </a:rPr>
              <a:t>Editorial Quality Pipeline (DRAFT → PENDING_REVIEW → PUBLISHED)</a:t>
            </a:r>
            <a:endParaRPr lang="en-US" sz="1600" dirty="0"/>
          </a:p>
        </p:txBody>
      </p:sp>
      <p:sp>
        <p:nvSpPr>
          <p:cNvPr id="9" name="Text 6"/>
          <p:cNvSpPr/>
          <p:nvPr/>
        </p:nvSpPr>
        <p:spPr>
          <a:xfrm>
            <a:off x="914400" y="4937760"/>
            <a:ext cx="10332720" cy="914400"/>
          </a:xfrm>
          <a:prstGeom prst="rect">
            <a:avLst/>
          </a:prstGeom>
          <a:noFill/>
          <a:ln/>
        </p:spPr>
        <p:txBody>
          <a:bodyPr wrap="square" rtlCol="0" anchor="ctr"/>
          <a:lstStyle/>
          <a:p>
            <a:pPr indent="0" marL="0">
              <a:buNone/>
            </a:pPr>
            <a:r>
              <a:rPr lang="en-US" sz="1200" dirty="0">
                <a:solidFill>
                  <a:srgbClr val="1F2937"/>
                </a:solidFill>
              </a:rPr>
              <a:t>Questions written by faculty or drafted by AI pass through an automated critic verdict (criticVerdict) and human review before reaching PUBLISHED status. RETIRED questions remain in database so historical student attempt reports never dangle.</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1C2B4A"/>
          </a:solidFill>
          <a:ln w="12700">
            <a:solidFill>
              <a:srgbClr val="1C2B4A"/>
            </a:solidFill>
            <a:prstDash val="solid"/>
          </a:ln>
        </p:spPr>
      </p:sp>
      <p:sp>
        <p:nvSpPr>
          <p:cNvPr id="3" name="Text 1"/>
          <p:cNvSpPr/>
          <p:nvPr/>
        </p:nvSpPr>
        <p:spPr>
          <a:xfrm>
            <a:off x="548640" y="182880"/>
            <a:ext cx="10972800" cy="411480"/>
          </a:xfrm>
          <a:prstGeom prst="rect">
            <a:avLst/>
          </a:prstGeom>
          <a:noFill/>
          <a:ln/>
        </p:spPr>
        <p:txBody>
          <a:bodyPr wrap="square" rtlCol="0" anchor="ctr"/>
          <a:lstStyle/>
          <a:p>
            <a:pPr indent="0" marL="0">
              <a:buNone/>
            </a:pPr>
            <a:r>
              <a:rPr lang="en-US" sz="2400" b="1" dirty="0">
                <a:solidFill>
                  <a:srgbClr val="FFFFFF"/>
                </a:solidFill>
              </a:rPr>
              <a:t>5. Module 4 &amp; 5: Assessment &amp; Attempt Engine</a:t>
            </a:r>
            <a:endParaRPr lang="en-US" sz="2400" dirty="0"/>
          </a:p>
        </p:txBody>
      </p:sp>
      <p:sp>
        <p:nvSpPr>
          <p:cNvPr id="4" name="Text 2"/>
          <p:cNvSpPr/>
          <p:nvPr/>
        </p:nvSpPr>
        <p:spPr>
          <a:xfrm>
            <a:off x="548640" y="594360"/>
            <a:ext cx="10972800" cy="320040"/>
          </a:xfrm>
          <a:prstGeom prst="rect">
            <a:avLst/>
          </a:prstGeom>
          <a:noFill/>
          <a:ln/>
        </p:spPr>
        <p:txBody>
          <a:bodyPr wrap="square" rtlCol="0" anchor="ctr"/>
          <a:lstStyle/>
          <a:p>
            <a:pPr indent="0" marL="0">
              <a:buNone/>
            </a:pPr>
            <a:r>
              <a:rPr lang="en-US" sz="1400" dirty="0">
                <a:solidFill>
                  <a:srgbClr val="94A3B8"/>
                </a:solidFill>
              </a:rPr>
              <a:t>Test templates, sectional clock enforcement, and autosave loop</a:t>
            </a:r>
            <a:endParaRPr lang="en-US" sz="1400" dirty="0"/>
          </a:p>
        </p:txBody>
      </p:sp>
      <p:sp>
        <p:nvSpPr>
          <p:cNvPr id="5" name="Text 3"/>
          <p:cNvSpPr/>
          <p:nvPr/>
        </p:nvSpPr>
        <p:spPr>
          <a:xfrm>
            <a:off x="548640" y="6492240"/>
            <a:ext cx="10972800" cy="274320"/>
          </a:xfrm>
          <a:prstGeom prst="rect">
            <a:avLst/>
          </a:prstGeom>
          <a:noFill/>
          <a:ln/>
        </p:spPr>
        <p:txBody>
          <a:bodyPr wrap="square" rtlCol="0" anchor="ctr"/>
          <a:lstStyle/>
          <a:p>
            <a:pPr indent="0" marL="0">
              <a:buNone/>
            </a:pPr>
            <a:r>
              <a:rPr lang="en-US" sz="1000" dirty="0">
                <a:solidFill>
                  <a:srgbClr val="64748B"/>
                </a:solidFill>
              </a:rPr>
              <a:t>Lumen Academy Database Architecture  |  Slide 6 of 10</a:t>
            </a:r>
            <a:endParaRPr lang="en-US" sz="1000" dirty="0"/>
          </a:p>
        </p:txBody>
      </p:sp>
      <p:sp>
        <p:nvSpPr>
          <p:cNvPr id="6" name="Shape 4"/>
          <p:cNvSpPr/>
          <p:nvPr/>
        </p:nvSpPr>
        <p:spPr>
          <a:xfrm>
            <a:off x="731520" y="1463040"/>
            <a:ext cx="3383280" cy="4572000"/>
          </a:xfrm>
          <a:prstGeom prst="roundRect">
            <a:avLst>
              <a:gd name="adj" fmla="val 4054"/>
            </a:avLst>
          </a:prstGeom>
          <a:solidFill>
            <a:srgbClr val="F8FAFC"/>
          </a:solidFill>
          <a:ln w="19050">
            <a:solidFill>
              <a:srgbClr val="CBD5E1"/>
            </a:solidFill>
            <a:prstDash val="solid"/>
          </a:ln>
        </p:spPr>
      </p:sp>
      <p:sp>
        <p:nvSpPr>
          <p:cNvPr id="7" name="Text 5"/>
          <p:cNvSpPr/>
          <p:nvPr/>
        </p:nvSpPr>
        <p:spPr>
          <a:xfrm>
            <a:off x="914400" y="1737360"/>
            <a:ext cx="3017520" cy="457200"/>
          </a:xfrm>
          <a:prstGeom prst="rect">
            <a:avLst/>
          </a:prstGeom>
          <a:noFill/>
          <a:ln/>
        </p:spPr>
        <p:txBody>
          <a:bodyPr wrap="square" rtlCol="0" anchor="ctr"/>
          <a:lstStyle/>
          <a:p>
            <a:pPr indent="0" marL="0">
              <a:buNone/>
            </a:pPr>
            <a:r>
              <a:rPr lang="en-US" sz="1600" b="1" dirty="0">
                <a:solidFill>
                  <a:srgbClr val="1C2B4A"/>
                </a:solidFill>
              </a:rPr>
              <a:t>📋 Test Templates (Test)</a:t>
            </a:r>
            <a:endParaRPr lang="en-US" sz="1600" dirty="0"/>
          </a:p>
        </p:txBody>
      </p:sp>
      <p:sp>
        <p:nvSpPr>
          <p:cNvPr id="8" name="Text 6"/>
          <p:cNvSpPr/>
          <p:nvPr/>
        </p:nvSpPr>
        <p:spPr>
          <a:xfrm>
            <a:off x="914400" y="2377440"/>
            <a:ext cx="3017520" cy="3291840"/>
          </a:xfrm>
          <a:prstGeom prst="rect">
            <a:avLst/>
          </a:prstGeom>
          <a:noFill/>
          <a:ln/>
        </p:spPr>
        <p:txBody>
          <a:bodyPr wrap="square" rtlCol="0" anchor="ctr"/>
          <a:lstStyle/>
          <a:p>
            <a:pPr indent="0" marL="0">
              <a:buNone/>
            </a:pPr>
            <a:r>
              <a:rPr lang="en-US" sz="1300" dirty="0">
                <a:solidFill>
                  <a:srgbClr val="1F2937"/>
                </a:solidFill>
              </a:rPr>
              <a:t>• Types: FULL, SUBJECT, CUSTOM, AI_REVISION, PYQ</a:t>
            </a:r>
            <a:endParaRPr lang="en-US" sz="1300" dirty="0"/>
          </a:p>
          <a:p>
            <a:pPr indent="0" marL="0">
              <a:buNone/>
            </a:pPr>
            <a:endParaRPr lang="en-US" sz="1300" dirty="0"/>
          </a:p>
          <a:p>
            <a:pPr indent="0" marL="0">
              <a:buNone/>
            </a:pPr>
            <a:r>
              <a:rPr lang="en-US" sz="1300" dirty="0">
                <a:solidFill>
                  <a:srgbClr val="1F2937"/>
                </a:solidFill>
              </a:rPr>
              <a:t>• Overall duration limit (durationSeconds)</a:t>
            </a:r>
            <a:endParaRPr lang="en-US" sz="1300" dirty="0"/>
          </a:p>
          <a:p>
            <a:pPr indent="0" marL="0">
              <a:buNone/>
            </a:pPr>
            <a:endParaRPr lang="en-US" sz="1300" dirty="0"/>
          </a:p>
          <a:p>
            <a:pPr indent="0" marL="0">
              <a:buNone/>
            </a:pPr>
            <a:r>
              <a:rPr lang="en-US" sz="1300" dirty="0">
                <a:solidFill>
                  <a:srgbClr val="1F2937"/>
                </a:solidFill>
              </a:rPr>
              <a:t>• Sectional breakdown (TestSection)</a:t>
            </a:r>
            <a:endParaRPr lang="en-US" sz="1300" dirty="0"/>
          </a:p>
        </p:txBody>
      </p:sp>
      <p:sp>
        <p:nvSpPr>
          <p:cNvPr id="9" name="Shape 7"/>
          <p:cNvSpPr/>
          <p:nvPr/>
        </p:nvSpPr>
        <p:spPr>
          <a:xfrm>
            <a:off x="4343400" y="1463040"/>
            <a:ext cx="3383280" cy="4572000"/>
          </a:xfrm>
          <a:prstGeom prst="roundRect">
            <a:avLst>
              <a:gd name="adj" fmla="val 4054"/>
            </a:avLst>
          </a:prstGeom>
          <a:solidFill>
            <a:srgbClr val="F8FAFC"/>
          </a:solidFill>
          <a:ln w="19050">
            <a:solidFill>
              <a:srgbClr val="CBD5E1"/>
            </a:solidFill>
            <a:prstDash val="solid"/>
          </a:ln>
        </p:spPr>
      </p:sp>
      <p:sp>
        <p:nvSpPr>
          <p:cNvPr id="10" name="Text 8"/>
          <p:cNvSpPr/>
          <p:nvPr/>
        </p:nvSpPr>
        <p:spPr>
          <a:xfrm>
            <a:off x="4526280" y="1737360"/>
            <a:ext cx="3017520" cy="457200"/>
          </a:xfrm>
          <a:prstGeom prst="rect">
            <a:avLst/>
          </a:prstGeom>
          <a:noFill/>
          <a:ln/>
        </p:spPr>
        <p:txBody>
          <a:bodyPr wrap="square" rtlCol="0" anchor="ctr"/>
          <a:lstStyle/>
          <a:p>
            <a:pPr indent="0" marL="0">
              <a:buNone/>
            </a:pPr>
            <a:r>
              <a:rPr lang="en-US" sz="1600" b="1" dirty="0">
                <a:solidFill>
                  <a:srgbClr val="1C2B4A"/>
                </a:solidFill>
              </a:rPr>
              <a:t>⏱️ Sectional Timing (AttemptSection)</a:t>
            </a:r>
            <a:endParaRPr lang="en-US" sz="1600" dirty="0"/>
          </a:p>
        </p:txBody>
      </p:sp>
      <p:sp>
        <p:nvSpPr>
          <p:cNvPr id="11" name="Text 9"/>
          <p:cNvSpPr/>
          <p:nvPr/>
        </p:nvSpPr>
        <p:spPr>
          <a:xfrm>
            <a:off x="4526280" y="2377440"/>
            <a:ext cx="3017520" cy="3291840"/>
          </a:xfrm>
          <a:prstGeom prst="rect">
            <a:avLst/>
          </a:prstGeom>
          <a:noFill/>
          <a:ln/>
        </p:spPr>
        <p:txBody>
          <a:bodyPr wrap="square" rtlCol="0" anchor="ctr"/>
          <a:lstStyle/>
          <a:p>
            <a:pPr indent="0" marL="0">
              <a:buNone/>
            </a:pPr>
            <a:r>
              <a:rPr lang="en-US" sz="1300" dirty="0">
                <a:solidFill>
                  <a:srgbClr val="1F2937"/>
                </a:solidFill>
              </a:rPr>
              <a:t>• Independent section deadlineAt clocks</a:t>
            </a:r>
            <a:endParaRPr lang="en-US" sz="1300" dirty="0"/>
          </a:p>
          <a:p>
            <a:pPr indent="0" marL="0">
              <a:buNone/>
            </a:pPr>
            <a:endParaRPr lang="en-US" sz="1300" dirty="0"/>
          </a:p>
          <a:p>
            <a:pPr indent="0" marL="0">
              <a:buNone/>
            </a:pPr>
            <a:r>
              <a:rPr lang="en-US" sz="1300" dirty="0">
                <a:solidFill>
                  <a:srgbClr val="1F2937"/>
                </a:solidFill>
              </a:rPr>
              <a:t>• Per-section lock enforcement (lockedAt)</a:t>
            </a:r>
            <a:endParaRPr lang="en-US" sz="1300" dirty="0"/>
          </a:p>
          <a:p>
            <a:pPr indent="0" marL="0">
              <a:buNone/>
            </a:pPr>
            <a:endParaRPr lang="en-US" sz="1300" dirty="0"/>
          </a:p>
          <a:p>
            <a:pPr indent="0" marL="0">
              <a:buNone/>
            </a:pPr>
            <a:r>
              <a:rPr lang="en-US" sz="1300" dirty="0">
                <a:solidFill>
                  <a:srgbClr val="1F2937"/>
                </a:solidFill>
              </a:rPr>
              <a:t>• Crucial for JEE sectional time limits</a:t>
            </a:r>
            <a:endParaRPr lang="en-US" sz="1300" dirty="0"/>
          </a:p>
        </p:txBody>
      </p:sp>
      <p:sp>
        <p:nvSpPr>
          <p:cNvPr id="12" name="Shape 10"/>
          <p:cNvSpPr/>
          <p:nvPr/>
        </p:nvSpPr>
        <p:spPr>
          <a:xfrm>
            <a:off x="7955280" y="1463040"/>
            <a:ext cx="3383280" cy="4572000"/>
          </a:xfrm>
          <a:prstGeom prst="roundRect">
            <a:avLst>
              <a:gd name="adj" fmla="val 4054"/>
            </a:avLst>
          </a:prstGeom>
          <a:solidFill>
            <a:srgbClr val="F8FAFC"/>
          </a:solidFill>
          <a:ln w="19050">
            <a:solidFill>
              <a:srgbClr val="CBD5E1"/>
            </a:solidFill>
            <a:prstDash val="solid"/>
          </a:ln>
        </p:spPr>
      </p:sp>
      <p:sp>
        <p:nvSpPr>
          <p:cNvPr id="13" name="Text 11"/>
          <p:cNvSpPr/>
          <p:nvPr/>
        </p:nvSpPr>
        <p:spPr>
          <a:xfrm>
            <a:off x="8138160" y="1737360"/>
            <a:ext cx="3017520" cy="457200"/>
          </a:xfrm>
          <a:prstGeom prst="rect">
            <a:avLst/>
          </a:prstGeom>
          <a:noFill/>
          <a:ln/>
        </p:spPr>
        <p:txBody>
          <a:bodyPr wrap="square" rtlCol="0" anchor="ctr"/>
          <a:lstStyle/>
          <a:p>
            <a:pPr indent="0" marL="0">
              <a:buNone/>
            </a:pPr>
            <a:r>
              <a:rPr lang="en-US" sz="1600" b="1" dirty="0">
                <a:solidFill>
                  <a:srgbClr val="1C2B4A"/>
                </a:solidFill>
              </a:rPr>
              <a:t>💾 Resilient Autosave Loop</a:t>
            </a:r>
            <a:endParaRPr lang="en-US" sz="1600" dirty="0"/>
          </a:p>
        </p:txBody>
      </p:sp>
      <p:sp>
        <p:nvSpPr>
          <p:cNvPr id="14" name="Text 12"/>
          <p:cNvSpPr/>
          <p:nvPr/>
        </p:nvSpPr>
        <p:spPr>
          <a:xfrm>
            <a:off x="8138160" y="2377440"/>
            <a:ext cx="3017520" cy="3291840"/>
          </a:xfrm>
          <a:prstGeom prst="rect">
            <a:avLst/>
          </a:prstGeom>
          <a:noFill/>
          <a:ln/>
        </p:spPr>
        <p:txBody>
          <a:bodyPr wrap="square" rtlCol="0" anchor="ctr"/>
          <a:lstStyle/>
          <a:p>
            <a:pPr indent="0" marL="0">
              <a:buNone/>
            </a:pPr>
            <a:r>
              <a:rPr lang="en-US" sz="1300" dirty="0">
                <a:solidFill>
                  <a:srgbClr val="1F2937"/>
                </a:solidFill>
              </a:rPr>
              <a:t>• AttemptQuestion incremental upserts</a:t>
            </a:r>
            <a:endParaRPr lang="en-US" sz="1300" dirty="0"/>
          </a:p>
          <a:p>
            <a:pPr indent="0" marL="0">
              <a:buNone/>
            </a:pPr>
            <a:endParaRPr lang="en-US" sz="1300" dirty="0"/>
          </a:p>
          <a:p>
            <a:pPr indent="0" marL="0">
              <a:buNone/>
            </a:pPr>
            <a:r>
              <a:rPr lang="en-US" sz="1300" dirty="0">
                <a:solidFill>
                  <a:srgbClr val="1F2937"/>
                </a:solidFill>
              </a:rPr>
              <a:t>• Shuffled option order per student (optionOrder)</a:t>
            </a:r>
            <a:endParaRPr lang="en-US" sz="1300" dirty="0"/>
          </a:p>
          <a:p>
            <a:pPr indent="0" marL="0">
              <a:buNone/>
            </a:pPr>
            <a:endParaRPr lang="en-US" sz="1300" dirty="0"/>
          </a:p>
          <a:p>
            <a:pPr indent="0" marL="0">
              <a:buNone/>
            </a:pPr>
            <a:r>
              <a:rPr lang="en-US" sz="1300" dirty="0">
                <a:solidFill>
                  <a:srgbClr val="1F2937"/>
                </a:solidFill>
              </a:rPr>
              <a:t>• Mobile &amp; poor-connectivity friendly</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1C2B4A"/>
          </a:solidFill>
          <a:ln w="12700">
            <a:solidFill>
              <a:srgbClr val="1C2B4A"/>
            </a:solidFill>
            <a:prstDash val="solid"/>
          </a:ln>
        </p:spPr>
      </p:sp>
      <p:sp>
        <p:nvSpPr>
          <p:cNvPr id="3" name="Text 1"/>
          <p:cNvSpPr/>
          <p:nvPr/>
        </p:nvSpPr>
        <p:spPr>
          <a:xfrm>
            <a:off x="548640" y="182880"/>
            <a:ext cx="10972800" cy="411480"/>
          </a:xfrm>
          <a:prstGeom prst="rect">
            <a:avLst/>
          </a:prstGeom>
          <a:noFill/>
          <a:ln/>
        </p:spPr>
        <p:txBody>
          <a:bodyPr wrap="square" rtlCol="0" anchor="ctr"/>
          <a:lstStyle/>
          <a:p>
            <a:pPr indent="0" marL="0">
              <a:buNone/>
            </a:pPr>
            <a:r>
              <a:rPr lang="en-US" sz="2400" b="1" dirty="0">
                <a:solidFill>
                  <a:srgbClr val="FFFFFF"/>
                </a:solidFill>
              </a:rPr>
              <a:t>6. Law 4: Immutable Result Snapshotting</a:t>
            </a:r>
            <a:endParaRPr lang="en-US" sz="2400" dirty="0"/>
          </a:p>
        </p:txBody>
      </p:sp>
      <p:sp>
        <p:nvSpPr>
          <p:cNvPr id="4" name="Text 2"/>
          <p:cNvSpPr/>
          <p:nvPr/>
        </p:nvSpPr>
        <p:spPr>
          <a:xfrm>
            <a:off x="548640" y="594360"/>
            <a:ext cx="10972800" cy="320040"/>
          </a:xfrm>
          <a:prstGeom prst="rect">
            <a:avLst/>
          </a:prstGeom>
          <a:noFill/>
          <a:ln/>
        </p:spPr>
        <p:txBody>
          <a:bodyPr wrap="square" rtlCol="0" anchor="ctr"/>
          <a:lstStyle/>
          <a:p>
            <a:pPr indent="0" marL="0">
              <a:buNone/>
            </a:pPr>
            <a:r>
              <a:rPr lang="en-US" sz="1400" dirty="0">
                <a:solidFill>
                  <a:srgbClr val="94A3B8"/>
                </a:solidFill>
              </a:rPr>
              <a:t>Freezing answer keys at submit time so historical attempts never change</a:t>
            </a:r>
            <a:endParaRPr lang="en-US" sz="1400" dirty="0"/>
          </a:p>
        </p:txBody>
      </p:sp>
      <p:sp>
        <p:nvSpPr>
          <p:cNvPr id="5" name="Text 3"/>
          <p:cNvSpPr/>
          <p:nvPr/>
        </p:nvSpPr>
        <p:spPr>
          <a:xfrm>
            <a:off x="548640" y="6492240"/>
            <a:ext cx="10972800" cy="274320"/>
          </a:xfrm>
          <a:prstGeom prst="rect">
            <a:avLst/>
          </a:prstGeom>
          <a:noFill/>
          <a:ln/>
        </p:spPr>
        <p:txBody>
          <a:bodyPr wrap="square" rtlCol="0" anchor="ctr"/>
          <a:lstStyle/>
          <a:p>
            <a:pPr indent="0" marL="0">
              <a:buNone/>
            </a:pPr>
            <a:r>
              <a:rPr lang="en-US" sz="1000" dirty="0">
                <a:solidFill>
                  <a:srgbClr val="64748B"/>
                </a:solidFill>
              </a:rPr>
              <a:t>Lumen Academy Database Architecture  |  Slide 7 of 10</a:t>
            </a:r>
            <a:endParaRPr lang="en-US" sz="1000" dirty="0"/>
          </a:p>
        </p:txBody>
      </p:sp>
      <p:sp>
        <p:nvSpPr>
          <p:cNvPr id="6" name="Shape 4"/>
          <p:cNvSpPr/>
          <p:nvPr/>
        </p:nvSpPr>
        <p:spPr>
          <a:xfrm>
            <a:off x="731520" y="1463040"/>
            <a:ext cx="10698480" cy="4572000"/>
          </a:xfrm>
          <a:prstGeom prst="roundRect">
            <a:avLst>
              <a:gd name="adj" fmla="val 3000"/>
            </a:avLst>
          </a:prstGeom>
          <a:solidFill>
            <a:srgbClr val="FFFBEB"/>
          </a:solidFill>
          <a:ln w="19050">
            <a:solidFill>
              <a:srgbClr val="FCD34D"/>
            </a:solidFill>
            <a:prstDash val="solid"/>
          </a:ln>
        </p:spPr>
      </p:sp>
      <p:sp>
        <p:nvSpPr>
          <p:cNvPr id="7" name="Text 5"/>
          <p:cNvSpPr/>
          <p:nvPr/>
        </p:nvSpPr>
        <p:spPr>
          <a:xfrm>
            <a:off x="1005840" y="1737360"/>
            <a:ext cx="10149840" cy="365760"/>
          </a:xfrm>
          <a:prstGeom prst="rect">
            <a:avLst/>
          </a:prstGeom>
          <a:noFill/>
          <a:ln/>
        </p:spPr>
        <p:txBody>
          <a:bodyPr wrap="square" rtlCol="0" anchor="ctr"/>
          <a:lstStyle/>
          <a:p>
            <a:pPr indent="0" marL="0">
              <a:buNone/>
            </a:pPr>
            <a:r>
              <a:rPr lang="en-US" sz="2000" b="1" dirty="0">
                <a:solidFill>
                  <a:srgbClr val="D97706"/>
                </a:solidFill>
              </a:rPr>
              <a:t>🧊 How Law 4 Prevents Historical Result Corruption</a:t>
            </a:r>
            <a:endParaRPr lang="en-US" sz="2000" dirty="0"/>
          </a:p>
        </p:txBody>
      </p:sp>
      <p:sp>
        <p:nvSpPr>
          <p:cNvPr id="8" name="Text 6"/>
          <p:cNvSpPr/>
          <p:nvPr/>
        </p:nvSpPr>
        <p:spPr>
          <a:xfrm>
            <a:off x="1005840" y="2286000"/>
            <a:ext cx="10149840" cy="3474720"/>
          </a:xfrm>
          <a:prstGeom prst="rect">
            <a:avLst/>
          </a:prstGeom>
          <a:noFill/>
          <a:ln/>
        </p:spPr>
        <p:txBody>
          <a:bodyPr wrap="square" rtlCol="0" anchor="ctr"/>
          <a:lstStyle/>
          <a:p>
            <a:pPr indent="0" marL="0">
              <a:lnSpc>
                <a:spcPts val="1600"/>
              </a:lnSpc>
              <a:buNone/>
            </a:pPr>
            <a:r>
              <a:rPr lang="en-US" sz="1400" dirty="0">
                <a:solidFill>
                  <a:srgbClr val="1F2937"/>
                </a:solidFill>
              </a:rPr>
              <a:t>When a student submits an attempt, the scoring transaction creates a frozen snapshot inside AttemptQuestion:</a:t>
            </a:r>
            <a:endParaRPr lang="en-US" sz="1400" dirty="0"/>
          </a:p>
          <a:p>
            <a:pPr indent="0" marL="0">
              <a:lnSpc>
                <a:spcPts val="1600"/>
              </a:lnSpc>
              <a:buNone/>
            </a:pPr>
            <a:endParaRPr lang="en-US" sz="1400" dirty="0"/>
          </a:p>
          <a:p>
            <a:pPr indent="0" marL="0">
              <a:lnSpc>
                <a:spcPts val="1600"/>
              </a:lnSpc>
              <a:buNone/>
            </a:pPr>
            <a:r>
              <a:rPr lang="en-US" sz="1400" dirty="0">
                <a:solidFill>
                  <a:srgbClr val="1F2937"/>
                </a:solidFill>
              </a:rPr>
              <a:t>1. Snapshot Fields Captured:</a:t>
            </a:r>
            <a:endParaRPr lang="en-US" sz="1400" dirty="0"/>
          </a:p>
          <a:p>
            <a:pPr indent="0" marL="0">
              <a:lnSpc>
                <a:spcPts val="1600"/>
              </a:lnSpc>
              <a:buNone/>
            </a:pPr>
            <a:r>
              <a:rPr lang="en-US" sz="1400" dirty="0">
                <a:solidFill>
                  <a:srgbClr val="1F2937"/>
                </a:solidFill>
              </a:rPr>
              <a:t>   • contentSnapshot: Copy of stem, diagrams, and options displayed to the student.</a:t>
            </a:r>
            <a:endParaRPr lang="en-US" sz="1400" dirty="0"/>
          </a:p>
          <a:p>
            <a:pPr indent="0" marL="0">
              <a:lnSpc>
                <a:spcPts val="1600"/>
              </a:lnSpc>
              <a:buNone/>
            </a:pPr>
            <a:r>
              <a:rPr lang="en-US" sz="1400" dirty="0">
                <a:solidFill>
                  <a:srgbClr val="1F2937"/>
                </a:solidFill>
              </a:rPr>
              <a:t>   • correctOptionIdsSnapshot / correctNumericalAnswerSnapshot: Frozen answer key.</a:t>
            </a:r>
            <a:endParaRPr lang="en-US" sz="1400" dirty="0"/>
          </a:p>
          <a:p>
            <a:pPr indent="0" marL="0">
              <a:lnSpc>
                <a:spcPts val="1600"/>
              </a:lnSpc>
              <a:buNone/>
            </a:pPr>
            <a:r>
              <a:rPr lang="en-US" sz="1400" dirty="0">
                <a:solidFill>
                  <a:srgbClr val="1F2937"/>
                </a:solidFill>
              </a:rPr>
              <a:t>   • marksSnapshot / negativeMarksSnapshot: Marking scheme active at submit time.</a:t>
            </a:r>
            <a:endParaRPr lang="en-US" sz="1400" dirty="0"/>
          </a:p>
          <a:p>
            <a:pPr indent="0" marL="0">
              <a:lnSpc>
                <a:spcPts val="1600"/>
              </a:lnSpc>
              <a:buNone/>
            </a:pPr>
            <a:r>
              <a:rPr lang="en-US" sz="1400" dirty="0">
                <a:solidFill>
                  <a:srgbClr val="1F2937"/>
                </a:solidFill>
              </a:rPr>
              <a:t>   • answerKeySnapshot: Frozen JSON contract for structured JEE matching questions.</a:t>
            </a:r>
            <a:endParaRPr lang="en-US" sz="1400" dirty="0"/>
          </a:p>
          <a:p>
            <a:pPr indent="0" marL="0">
              <a:lnSpc>
                <a:spcPts val="1600"/>
              </a:lnSpc>
              <a:buNone/>
            </a:pPr>
            <a:endParaRPr lang="en-US" sz="1400" dirty="0"/>
          </a:p>
          <a:p>
            <a:pPr indent="0" marL="0">
              <a:lnSpc>
                <a:spcPts val="1600"/>
              </a:lnSpc>
              <a:buNone/>
            </a:pPr>
            <a:r>
              <a:rPr lang="en-US" sz="1400" dirty="0">
                <a:solidFill>
                  <a:srgbClr val="1F2937"/>
                </a:solidFill>
              </a:rPr>
              <a:t>2. Business Guarantee:</a:t>
            </a:r>
            <a:endParaRPr lang="en-US" sz="1400" dirty="0"/>
          </a:p>
          <a:p>
            <a:pPr indent="0" marL="0">
              <a:lnSpc>
                <a:spcPts val="1600"/>
              </a:lnSpc>
              <a:buNone/>
            </a:pPr>
            <a:r>
              <a:rPr lang="en-US" sz="1400" dirty="0">
                <a:solidFill>
                  <a:srgbClr val="1F2937"/>
                </a:solidFill>
              </a:rPr>
              <a:t>   If a question typo is corrected in June, a student who took the test in March will STILL see their exact historical score, question text, and answer key unaltered.</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1C2B4A"/>
          </a:solidFill>
          <a:ln w="12700">
            <a:solidFill>
              <a:srgbClr val="1C2B4A"/>
            </a:solidFill>
            <a:prstDash val="solid"/>
          </a:ln>
        </p:spPr>
      </p:sp>
      <p:sp>
        <p:nvSpPr>
          <p:cNvPr id="3" name="Text 1"/>
          <p:cNvSpPr/>
          <p:nvPr/>
        </p:nvSpPr>
        <p:spPr>
          <a:xfrm>
            <a:off x="548640" y="182880"/>
            <a:ext cx="10972800" cy="411480"/>
          </a:xfrm>
          <a:prstGeom prst="rect">
            <a:avLst/>
          </a:prstGeom>
          <a:noFill/>
          <a:ln/>
        </p:spPr>
        <p:txBody>
          <a:bodyPr wrap="square" rtlCol="0" anchor="ctr"/>
          <a:lstStyle/>
          <a:p>
            <a:pPr indent="0" marL="0">
              <a:buNone/>
            </a:pPr>
            <a:r>
              <a:rPr lang="en-US" sz="2400" b="1" dirty="0">
                <a:solidFill>
                  <a:srgbClr val="FFFFFF"/>
                </a:solidFill>
              </a:rPr>
              <a:t>7. Modules 8, 9 &amp; 10: LMS, Gamification &amp; Tools</a:t>
            </a:r>
            <a:endParaRPr lang="en-US" sz="2400" dirty="0"/>
          </a:p>
        </p:txBody>
      </p:sp>
      <p:sp>
        <p:nvSpPr>
          <p:cNvPr id="4" name="Text 2"/>
          <p:cNvSpPr/>
          <p:nvPr/>
        </p:nvSpPr>
        <p:spPr>
          <a:xfrm>
            <a:off x="548640" y="594360"/>
            <a:ext cx="10972800" cy="320040"/>
          </a:xfrm>
          <a:prstGeom prst="rect">
            <a:avLst/>
          </a:prstGeom>
          <a:noFill/>
          <a:ln/>
        </p:spPr>
        <p:txBody>
          <a:bodyPr wrap="square" rtlCol="0" anchor="ctr"/>
          <a:lstStyle/>
          <a:p>
            <a:pPr indent="0" marL="0">
              <a:buNone/>
            </a:pPr>
            <a:r>
              <a:rPr lang="en-US" sz="1400" dirty="0">
                <a:solidFill>
                  <a:srgbClr val="94A3B8"/>
                </a:solidFill>
              </a:rPr>
              <a:t>Enhancing student retention through video lessons, streaks, and focus tools</a:t>
            </a:r>
            <a:endParaRPr lang="en-US" sz="1400" dirty="0"/>
          </a:p>
        </p:txBody>
      </p:sp>
      <p:sp>
        <p:nvSpPr>
          <p:cNvPr id="5" name="Text 3"/>
          <p:cNvSpPr/>
          <p:nvPr/>
        </p:nvSpPr>
        <p:spPr>
          <a:xfrm>
            <a:off x="548640" y="6492240"/>
            <a:ext cx="10972800" cy="274320"/>
          </a:xfrm>
          <a:prstGeom prst="rect">
            <a:avLst/>
          </a:prstGeom>
          <a:noFill/>
          <a:ln/>
        </p:spPr>
        <p:txBody>
          <a:bodyPr wrap="square" rtlCol="0" anchor="ctr"/>
          <a:lstStyle/>
          <a:p>
            <a:pPr indent="0" marL="0">
              <a:buNone/>
            </a:pPr>
            <a:r>
              <a:rPr lang="en-US" sz="1000" dirty="0">
                <a:solidFill>
                  <a:srgbClr val="64748B"/>
                </a:solidFill>
              </a:rPr>
              <a:t>Lumen Academy Database Architecture  |  Slide 8 of 10</a:t>
            </a:r>
            <a:endParaRPr lang="en-US" sz="1000" dirty="0"/>
          </a:p>
        </p:txBody>
      </p:sp>
      <p:sp>
        <p:nvSpPr>
          <p:cNvPr id="6" name="Shape 4"/>
          <p:cNvSpPr/>
          <p:nvPr/>
        </p:nvSpPr>
        <p:spPr>
          <a:xfrm>
            <a:off x="731520" y="1463040"/>
            <a:ext cx="3383280" cy="4572000"/>
          </a:xfrm>
          <a:prstGeom prst="roundRect">
            <a:avLst>
              <a:gd name="adj" fmla="val 4054"/>
            </a:avLst>
          </a:prstGeom>
          <a:solidFill>
            <a:srgbClr val="EFF6FF"/>
          </a:solidFill>
          <a:ln w="12700">
            <a:solidFill>
              <a:srgbClr val="BFDBFE"/>
            </a:solidFill>
            <a:prstDash val="solid"/>
          </a:ln>
        </p:spPr>
      </p:sp>
      <p:sp>
        <p:nvSpPr>
          <p:cNvPr id="7" name="Text 5"/>
          <p:cNvSpPr/>
          <p:nvPr/>
        </p:nvSpPr>
        <p:spPr>
          <a:xfrm>
            <a:off x="914400" y="1691640"/>
            <a:ext cx="3017520" cy="411480"/>
          </a:xfrm>
          <a:prstGeom prst="rect">
            <a:avLst/>
          </a:prstGeom>
          <a:noFill/>
          <a:ln/>
        </p:spPr>
        <p:txBody>
          <a:bodyPr wrap="square" rtlCol="0" anchor="ctr"/>
          <a:lstStyle/>
          <a:p>
            <a:pPr indent="0" marL="0">
              <a:buNone/>
            </a:pPr>
            <a:r>
              <a:rPr lang="en-US" sz="1500" b="1" dirty="0">
                <a:solidFill>
                  <a:srgbClr val="2563EB"/>
                </a:solidFill>
              </a:rPr>
              <a:t>📚 LMS &amp; Content (Module 10)</a:t>
            </a:r>
            <a:endParaRPr lang="en-US" sz="1500" dirty="0"/>
          </a:p>
        </p:txBody>
      </p:sp>
      <p:sp>
        <p:nvSpPr>
          <p:cNvPr id="8" name="Text 6"/>
          <p:cNvSpPr/>
          <p:nvPr/>
        </p:nvSpPr>
        <p:spPr>
          <a:xfrm>
            <a:off x="914400" y="2240280"/>
            <a:ext cx="3017520" cy="3566160"/>
          </a:xfrm>
          <a:prstGeom prst="rect">
            <a:avLst/>
          </a:prstGeom>
          <a:noFill/>
          <a:ln/>
        </p:spPr>
        <p:txBody>
          <a:bodyPr wrap="square" rtlCol="0" anchor="ctr"/>
          <a:lstStyle/>
          <a:p>
            <a:pPr indent="0" marL="0">
              <a:buNone/>
            </a:pPr>
            <a:r>
              <a:rPr lang="en-US" sz="1200" dirty="0">
                <a:solidFill>
                  <a:srgbClr val="1F2937"/>
                </a:solidFill>
              </a:rPr>
              <a:t>• Lesson: Video &amp; text content by Unit</a:t>
            </a:r>
            <a:endParaRPr lang="en-US" sz="1200" dirty="0"/>
          </a:p>
          <a:p>
            <a:pPr indent="0" marL="0">
              <a:buNone/>
            </a:pPr>
            <a:endParaRPr lang="en-US" sz="1200" dirty="0"/>
          </a:p>
          <a:p>
            <a:pPr indent="0" marL="0">
              <a:buNone/>
            </a:pPr>
            <a:r>
              <a:rPr lang="en-US" sz="1200" dirty="0">
                <a:solidFill>
                  <a:srgbClr val="1F2937"/>
                </a:solidFill>
              </a:rPr>
              <a:t>• LessonVideo: YouTube ID &amp; duration</a:t>
            </a:r>
            <a:endParaRPr lang="en-US" sz="1200" dirty="0"/>
          </a:p>
          <a:p>
            <a:pPr indent="0" marL="0">
              <a:buNone/>
            </a:pPr>
            <a:endParaRPr lang="en-US" sz="1200" dirty="0"/>
          </a:p>
          <a:p>
            <a:pPr indent="0" marL="0">
              <a:buNone/>
            </a:pPr>
            <a:r>
              <a:rPr lang="en-US" sz="1200" dirty="0">
                <a:solidFill>
                  <a:srgbClr val="1F2937"/>
                </a:solidFill>
              </a:rPr>
              <a:t>• VideoTimestamp: Key topic bookmarks</a:t>
            </a:r>
            <a:endParaRPr lang="en-US" sz="1200" dirty="0"/>
          </a:p>
          <a:p>
            <a:pPr indent="0" marL="0">
              <a:buNone/>
            </a:pPr>
            <a:endParaRPr lang="en-US" sz="1200" dirty="0"/>
          </a:p>
          <a:p>
            <a:pPr indent="0" marL="0">
              <a:buNone/>
            </a:pPr>
            <a:r>
              <a:rPr lang="en-US" sz="1200" dirty="0">
                <a:solidFill>
                  <a:srgbClr val="1F2937"/>
                </a:solidFill>
              </a:rPr>
              <a:t>• LessonResource: Downloadable PDFs</a:t>
            </a:r>
            <a:endParaRPr lang="en-US" sz="1200" dirty="0"/>
          </a:p>
          <a:p>
            <a:pPr indent="0" marL="0">
              <a:buNone/>
            </a:pPr>
            <a:endParaRPr lang="en-US" sz="1200" dirty="0"/>
          </a:p>
          <a:p>
            <a:pPr indent="0" marL="0">
              <a:buNone/>
            </a:pPr>
            <a:r>
              <a:rPr lang="en-US" sz="1200" dirty="0">
                <a:solidFill>
                  <a:srgbClr val="1F2937"/>
                </a:solidFill>
              </a:rPr>
              <a:t>• LessonProgress: Watch percentage</a:t>
            </a:r>
            <a:endParaRPr lang="en-US" sz="1200" dirty="0"/>
          </a:p>
        </p:txBody>
      </p:sp>
      <p:sp>
        <p:nvSpPr>
          <p:cNvPr id="9" name="Shape 7"/>
          <p:cNvSpPr/>
          <p:nvPr/>
        </p:nvSpPr>
        <p:spPr>
          <a:xfrm>
            <a:off x="4343400" y="1463040"/>
            <a:ext cx="3383280" cy="4572000"/>
          </a:xfrm>
          <a:prstGeom prst="roundRect">
            <a:avLst>
              <a:gd name="adj" fmla="val 4054"/>
            </a:avLst>
          </a:prstGeom>
          <a:solidFill>
            <a:srgbClr val="EFF6FF"/>
          </a:solidFill>
          <a:ln w="12700">
            <a:solidFill>
              <a:srgbClr val="BFDBFE"/>
            </a:solidFill>
            <a:prstDash val="solid"/>
          </a:ln>
        </p:spPr>
      </p:sp>
      <p:sp>
        <p:nvSpPr>
          <p:cNvPr id="10" name="Text 8"/>
          <p:cNvSpPr/>
          <p:nvPr/>
        </p:nvSpPr>
        <p:spPr>
          <a:xfrm>
            <a:off x="4526280" y="1691640"/>
            <a:ext cx="3017520" cy="411480"/>
          </a:xfrm>
          <a:prstGeom prst="rect">
            <a:avLst/>
          </a:prstGeom>
          <a:noFill/>
          <a:ln/>
        </p:spPr>
        <p:txBody>
          <a:bodyPr wrap="square" rtlCol="0" anchor="ctr"/>
          <a:lstStyle/>
          <a:p>
            <a:pPr indent="0" marL="0">
              <a:buNone/>
            </a:pPr>
            <a:r>
              <a:rPr lang="en-US" sz="1500" b="1" dirty="0">
                <a:solidFill>
                  <a:srgbClr val="2563EB"/>
                </a:solidFill>
              </a:rPr>
              <a:t>⚡ Gamification (Module 8)</a:t>
            </a:r>
            <a:endParaRPr lang="en-US" sz="1500" dirty="0"/>
          </a:p>
        </p:txBody>
      </p:sp>
      <p:sp>
        <p:nvSpPr>
          <p:cNvPr id="11" name="Text 9"/>
          <p:cNvSpPr/>
          <p:nvPr/>
        </p:nvSpPr>
        <p:spPr>
          <a:xfrm>
            <a:off x="4526280" y="2240280"/>
            <a:ext cx="3017520" cy="3566160"/>
          </a:xfrm>
          <a:prstGeom prst="rect">
            <a:avLst/>
          </a:prstGeom>
          <a:noFill/>
          <a:ln/>
        </p:spPr>
        <p:txBody>
          <a:bodyPr wrap="square" rtlCol="0" anchor="ctr"/>
          <a:lstStyle/>
          <a:p>
            <a:pPr indent="0" marL="0">
              <a:buNone/>
            </a:pPr>
            <a:r>
              <a:rPr lang="en-US" sz="1200" dirty="0">
                <a:solidFill>
                  <a:srgbClr val="1F2937"/>
                </a:solidFill>
              </a:rPr>
              <a:t>• Streak: Consecutive daily study days</a:t>
            </a:r>
            <a:endParaRPr lang="en-US" sz="1200" dirty="0"/>
          </a:p>
          <a:p>
            <a:pPr indent="0" marL="0">
              <a:buNone/>
            </a:pPr>
            <a:endParaRPr lang="en-US" sz="1200" dirty="0"/>
          </a:p>
          <a:p>
            <a:pPr indent="0" marL="0">
              <a:buNone/>
            </a:pPr>
            <a:r>
              <a:rPr lang="en-US" sz="1200" dirty="0">
                <a:solidFill>
                  <a:srgbClr val="1F2937"/>
                </a:solidFill>
              </a:rPr>
              <a:t>• Badge &amp; UserBadge: Performance awards</a:t>
            </a:r>
            <a:endParaRPr lang="en-US" sz="1200" dirty="0"/>
          </a:p>
          <a:p>
            <a:pPr indent="0" marL="0">
              <a:buNone/>
            </a:pPr>
            <a:endParaRPr lang="en-US" sz="1200" dirty="0"/>
          </a:p>
          <a:p>
            <a:pPr indent="0" marL="0">
              <a:buNone/>
            </a:pPr>
            <a:r>
              <a:rPr lang="en-US" sz="1200" dirty="0">
                <a:solidFill>
                  <a:srgbClr val="1F2937"/>
                </a:solidFill>
              </a:rPr>
              <a:t>• DailyGoal: Daily target completion</a:t>
            </a:r>
            <a:endParaRPr lang="en-US" sz="1200" dirty="0"/>
          </a:p>
          <a:p>
            <a:pPr indent="0" marL="0">
              <a:buNone/>
            </a:pPr>
            <a:endParaRPr lang="en-US" sz="1200" dirty="0"/>
          </a:p>
          <a:p>
            <a:pPr indent="0" marL="0">
              <a:buNone/>
            </a:pPr>
            <a:r>
              <a:rPr lang="en-US" sz="1200" dirty="0">
                <a:solidFill>
                  <a:srgbClr val="1F2937"/>
                </a:solidFill>
              </a:rPr>
              <a:t>• Notification: In-app &amp; push alert queue</a:t>
            </a:r>
            <a:endParaRPr lang="en-US" sz="1200" dirty="0"/>
          </a:p>
          <a:p>
            <a:pPr indent="0" marL="0">
              <a:buNone/>
            </a:pPr>
            <a:endParaRPr lang="en-US" sz="1200" dirty="0"/>
          </a:p>
          <a:p>
            <a:pPr indent="0" marL="0">
              <a:buNone/>
            </a:pPr>
            <a:r>
              <a:rPr lang="en-US" sz="1200" dirty="0">
                <a:solidFill>
                  <a:srgbClr val="1F2937"/>
                </a:solidFill>
              </a:rPr>
              <a:t>• UnitMastery: Chapter accuracy radar</a:t>
            </a:r>
            <a:endParaRPr lang="en-US" sz="1200" dirty="0"/>
          </a:p>
        </p:txBody>
      </p:sp>
      <p:sp>
        <p:nvSpPr>
          <p:cNvPr id="12" name="Shape 10"/>
          <p:cNvSpPr/>
          <p:nvPr/>
        </p:nvSpPr>
        <p:spPr>
          <a:xfrm>
            <a:off x="7955280" y="1463040"/>
            <a:ext cx="3383280" cy="4572000"/>
          </a:xfrm>
          <a:prstGeom prst="roundRect">
            <a:avLst>
              <a:gd name="adj" fmla="val 4054"/>
            </a:avLst>
          </a:prstGeom>
          <a:solidFill>
            <a:srgbClr val="EFF6FF"/>
          </a:solidFill>
          <a:ln w="12700">
            <a:solidFill>
              <a:srgbClr val="BFDBFE"/>
            </a:solidFill>
            <a:prstDash val="solid"/>
          </a:ln>
        </p:spPr>
      </p:sp>
      <p:sp>
        <p:nvSpPr>
          <p:cNvPr id="13" name="Text 11"/>
          <p:cNvSpPr/>
          <p:nvPr/>
        </p:nvSpPr>
        <p:spPr>
          <a:xfrm>
            <a:off x="8138160" y="1691640"/>
            <a:ext cx="3017520" cy="411480"/>
          </a:xfrm>
          <a:prstGeom prst="rect">
            <a:avLst/>
          </a:prstGeom>
          <a:noFill/>
          <a:ln/>
        </p:spPr>
        <p:txBody>
          <a:bodyPr wrap="square" rtlCol="0" anchor="ctr"/>
          <a:lstStyle/>
          <a:p>
            <a:pPr indent="0" marL="0">
              <a:buNone/>
            </a:pPr>
            <a:r>
              <a:rPr lang="en-US" sz="1500" b="1" dirty="0">
                <a:solidFill>
                  <a:srgbClr val="2563EB"/>
                </a:solidFill>
              </a:rPr>
              <a:t>⏱️ Productivity Tools (Module 9)</a:t>
            </a:r>
            <a:endParaRPr lang="en-US" sz="1500" dirty="0"/>
          </a:p>
        </p:txBody>
      </p:sp>
      <p:sp>
        <p:nvSpPr>
          <p:cNvPr id="14" name="Text 12"/>
          <p:cNvSpPr/>
          <p:nvPr/>
        </p:nvSpPr>
        <p:spPr>
          <a:xfrm>
            <a:off x="8138160" y="2240280"/>
            <a:ext cx="3017520" cy="3566160"/>
          </a:xfrm>
          <a:prstGeom prst="rect">
            <a:avLst/>
          </a:prstGeom>
          <a:noFill/>
          <a:ln/>
        </p:spPr>
        <p:txBody>
          <a:bodyPr wrap="square" rtlCol="0" anchor="ctr"/>
          <a:lstStyle/>
          <a:p>
            <a:pPr indent="0" marL="0">
              <a:buNone/>
            </a:pPr>
            <a:r>
              <a:rPr lang="en-US" sz="1200" dirty="0">
                <a:solidFill>
                  <a:srgbClr val="1F2937"/>
                </a:solidFill>
              </a:rPr>
              <a:t>• PomodoroSession: Focus &amp; break timer</a:t>
            </a:r>
            <a:endParaRPr lang="en-US" sz="1200" dirty="0"/>
          </a:p>
          <a:p>
            <a:pPr indent="0" marL="0">
              <a:buNone/>
            </a:pPr>
            <a:endParaRPr lang="en-US" sz="1200" dirty="0"/>
          </a:p>
          <a:p>
            <a:pPr indent="0" marL="0">
              <a:buNone/>
            </a:pPr>
            <a:r>
              <a:rPr lang="en-US" sz="1200" dirty="0">
                <a:solidFill>
                  <a:srgbClr val="1F2937"/>
                </a:solidFill>
              </a:rPr>
              <a:t>• StudyPlan: AI weekly schedule</a:t>
            </a:r>
            <a:endParaRPr lang="en-US" sz="1200" dirty="0"/>
          </a:p>
          <a:p>
            <a:pPr indent="0" marL="0">
              <a:buNone/>
            </a:pPr>
            <a:endParaRPr lang="en-US" sz="1200" dirty="0"/>
          </a:p>
          <a:p>
            <a:pPr indent="0" marL="0">
              <a:buNone/>
            </a:pPr>
            <a:r>
              <a:rPr lang="en-US" sz="1200" dirty="0">
                <a:solidFill>
                  <a:srgbClr val="1F2937"/>
                </a:solidFill>
              </a:rPr>
              <a:t>• RevisionNote: Custom study notes</a:t>
            </a:r>
            <a:endParaRPr lang="en-US" sz="1200" dirty="0"/>
          </a:p>
          <a:p>
            <a:pPr indent="0" marL="0">
              <a:buNone/>
            </a:pPr>
            <a:endParaRPr lang="en-US" sz="1200" dirty="0"/>
          </a:p>
          <a:p>
            <a:pPr indent="0" marL="0">
              <a:buNone/>
            </a:pPr>
            <a:r>
              <a:rPr lang="en-US" sz="1200" dirty="0">
                <a:solidFill>
                  <a:srgbClr val="1F2937"/>
                </a:solidFill>
              </a:rPr>
              <a:t>• Flashcard &amp; Daily: Spaced repetition</a:t>
            </a:r>
            <a:endParaRPr lang="en-US" sz="1200" dirty="0"/>
          </a:p>
          <a:p>
            <a:pPr indent="0" marL="0">
              <a:buNone/>
            </a:pPr>
            <a:endParaRPr lang="en-US" sz="1200" dirty="0"/>
          </a:p>
          <a:p>
            <a:pPr indent="0" marL="0">
              <a:buNone/>
            </a:pPr>
            <a:r>
              <a:rPr lang="en-US" sz="1200" dirty="0">
                <a:solidFill>
                  <a:srgbClr val="1F2937"/>
                </a:solidFill>
              </a:rPr>
              <a:t>• Bookmark: Saved lessons list</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1C2B4A"/>
          </a:solidFill>
          <a:ln w="12700">
            <a:solidFill>
              <a:srgbClr val="1C2B4A"/>
            </a:solidFill>
            <a:prstDash val="solid"/>
          </a:ln>
        </p:spPr>
      </p:sp>
      <p:sp>
        <p:nvSpPr>
          <p:cNvPr id="3" name="Text 1"/>
          <p:cNvSpPr/>
          <p:nvPr/>
        </p:nvSpPr>
        <p:spPr>
          <a:xfrm>
            <a:off x="548640" y="182880"/>
            <a:ext cx="10972800" cy="411480"/>
          </a:xfrm>
          <a:prstGeom prst="rect">
            <a:avLst/>
          </a:prstGeom>
          <a:noFill/>
          <a:ln/>
        </p:spPr>
        <p:txBody>
          <a:bodyPr wrap="square" rtlCol="0" anchor="ctr"/>
          <a:lstStyle/>
          <a:p>
            <a:pPr indent="0" marL="0">
              <a:buNone/>
            </a:pPr>
            <a:r>
              <a:rPr lang="en-US" sz="2400" b="1" dirty="0">
                <a:solidFill>
                  <a:srgbClr val="FFFFFF"/>
                </a:solidFill>
              </a:rPr>
              <a:t>8. Module 11: Institutional B2B Architecture</a:t>
            </a:r>
            <a:endParaRPr lang="en-US" sz="2400" dirty="0"/>
          </a:p>
        </p:txBody>
      </p:sp>
      <p:sp>
        <p:nvSpPr>
          <p:cNvPr id="4" name="Text 2"/>
          <p:cNvSpPr/>
          <p:nvPr/>
        </p:nvSpPr>
        <p:spPr>
          <a:xfrm>
            <a:off x="548640" y="594360"/>
            <a:ext cx="10972800" cy="320040"/>
          </a:xfrm>
          <a:prstGeom prst="rect">
            <a:avLst/>
          </a:prstGeom>
          <a:noFill/>
          <a:ln/>
        </p:spPr>
        <p:txBody>
          <a:bodyPr wrap="square" rtlCol="0" anchor="ctr"/>
          <a:lstStyle/>
          <a:p>
            <a:pPr indent="0" marL="0">
              <a:buNone/>
            </a:pPr>
            <a:r>
              <a:rPr lang="en-US" sz="1400" dirty="0">
                <a:solidFill>
                  <a:srgbClr val="94A3B8"/>
                </a:solidFill>
              </a:rPr>
              <a:t>School onboarding, administrative access, and B2C vs B2B dual student models</a:t>
            </a:r>
            <a:endParaRPr lang="en-US" sz="1400" dirty="0"/>
          </a:p>
        </p:txBody>
      </p:sp>
      <p:sp>
        <p:nvSpPr>
          <p:cNvPr id="5" name="Text 3"/>
          <p:cNvSpPr/>
          <p:nvPr/>
        </p:nvSpPr>
        <p:spPr>
          <a:xfrm>
            <a:off x="548640" y="6492240"/>
            <a:ext cx="10972800" cy="274320"/>
          </a:xfrm>
          <a:prstGeom prst="rect">
            <a:avLst/>
          </a:prstGeom>
          <a:noFill/>
          <a:ln/>
        </p:spPr>
        <p:txBody>
          <a:bodyPr wrap="square" rtlCol="0" anchor="ctr"/>
          <a:lstStyle/>
          <a:p>
            <a:pPr indent="0" marL="0">
              <a:buNone/>
            </a:pPr>
            <a:r>
              <a:rPr lang="en-US" sz="1000" dirty="0">
                <a:solidFill>
                  <a:srgbClr val="64748B"/>
                </a:solidFill>
              </a:rPr>
              <a:t>Lumen Academy Database Architecture  |  Slide 9 of 10</a:t>
            </a:r>
            <a:endParaRPr lang="en-US" sz="1000" dirty="0"/>
          </a:p>
        </p:txBody>
      </p:sp>
      <p:sp>
        <p:nvSpPr>
          <p:cNvPr id="6" name="Shape 4"/>
          <p:cNvSpPr/>
          <p:nvPr/>
        </p:nvSpPr>
        <p:spPr>
          <a:xfrm>
            <a:off x="731520" y="1463040"/>
            <a:ext cx="5120640" cy="4572000"/>
          </a:xfrm>
          <a:prstGeom prst="roundRect">
            <a:avLst>
              <a:gd name="adj" fmla="val 3000"/>
            </a:avLst>
          </a:prstGeom>
          <a:solidFill>
            <a:srgbClr val="F8FAFC"/>
          </a:solidFill>
          <a:ln w="12700">
            <a:solidFill>
              <a:srgbClr val="CBD5E1"/>
            </a:solidFill>
            <a:prstDash val="solid"/>
          </a:ln>
        </p:spPr>
      </p:sp>
      <p:sp>
        <p:nvSpPr>
          <p:cNvPr id="7" name="Text 5"/>
          <p:cNvSpPr/>
          <p:nvPr/>
        </p:nvSpPr>
        <p:spPr>
          <a:xfrm>
            <a:off x="1005840" y="1737360"/>
            <a:ext cx="4572000" cy="365760"/>
          </a:xfrm>
          <a:prstGeom prst="rect">
            <a:avLst/>
          </a:prstGeom>
          <a:noFill/>
          <a:ln/>
        </p:spPr>
        <p:txBody>
          <a:bodyPr wrap="square" rtlCol="0" anchor="ctr"/>
          <a:lstStyle/>
          <a:p>
            <a:pPr indent="0" marL="0">
              <a:buNone/>
            </a:pPr>
            <a:r>
              <a:rPr lang="en-US" sz="1800" b="1" dirty="0">
                <a:solidFill>
                  <a:srgbClr val="1C2B4A"/>
                </a:solidFill>
              </a:rPr>
              <a:t>🏫 Dual Student Model (B2C &amp; B2B)</a:t>
            </a:r>
            <a:endParaRPr lang="en-US" sz="1800" dirty="0"/>
          </a:p>
        </p:txBody>
      </p:sp>
      <p:sp>
        <p:nvSpPr>
          <p:cNvPr id="8" name="Text 6"/>
          <p:cNvSpPr/>
          <p:nvPr/>
        </p:nvSpPr>
        <p:spPr>
          <a:xfrm>
            <a:off x="1005840" y="2286000"/>
            <a:ext cx="4572000" cy="3474720"/>
          </a:xfrm>
          <a:prstGeom prst="rect">
            <a:avLst/>
          </a:prstGeom>
          <a:noFill/>
          <a:ln/>
        </p:spPr>
        <p:txBody>
          <a:bodyPr wrap="square" rtlCol="0" anchor="ctr"/>
          <a:lstStyle/>
          <a:p>
            <a:pPr indent="0" marL="0">
              <a:lnSpc>
                <a:spcPts val="1400"/>
              </a:lnSpc>
              <a:buNone/>
            </a:pPr>
            <a:r>
              <a:rPr lang="en-US" sz="1300" dirty="0">
                <a:solidFill>
                  <a:srgbClr val="1F2937"/>
                </a:solidFill>
              </a:rPr>
              <a:t>• Retail (B2C) Student:</a:t>
            </a:r>
            <a:endParaRPr lang="en-US" sz="1300" dirty="0"/>
          </a:p>
          <a:p>
            <a:pPr indent="0" marL="0">
              <a:lnSpc>
                <a:spcPts val="1400"/>
              </a:lnSpc>
              <a:buNone/>
            </a:pPr>
            <a:r>
              <a:rPr lang="en-US" sz="1300" dirty="0">
                <a:solidFill>
                  <a:srgbClr val="1F2937"/>
                </a:solidFill>
              </a:rPr>
              <a:t>  Fills schoolName as free-text; schoolId remains null.</a:t>
            </a:r>
            <a:endParaRPr lang="en-US" sz="1300" dirty="0"/>
          </a:p>
          <a:p>
            <a:pPr indent="0" marL="0">
              <a:lnSpc>
                <a:spcPts val="1400"/>
              </a:lnSpc>
              <a:buNone/>
            </a:pPr>
            <a:endParaRPr lang="en-US" sz="1300" dirty="0"/>
          </a:p>
          <a:p>
            <a:pPr indent="0" marL="0">
              <a:lnSpc>
                <a:spcPts val="1400"/>
              </a:lnSpc>
              <a:buNone/>
            </a:pPr>
            <a:r>
              <a:rPr lang="en-US" sz="1300" dirty="0">
                <a:solidFill>
                  <a:srgbClr val="1F2937"/>
                </a:solidFill>
              </a:rPr>
              <a:t>• Institutional (B2B) Student:</a:t>
            </a:r>
            <a:endParaRPr lang="en-US" sz="1300" dirty="0"/>
          </a:p>
          <a:p>
            <a:pPr indent="0" marL="0">
              <a:lnSpc>
                <a:spcPts val="1400"/>
              </a:lnSpc>
              <a:buNone/>
            </a:pPr>
            <a:r>
              <a:rPr lang="en-US" sz="1300" dirty="0">
                <a:solidFill>
                  <a:srgbClr val="1F2937"/>
                </a:solidFill>
              </a:rPr>
              <a:t>  Linked via schoolId FK to an onboarded School row.</a:t>
            </a:r>
            <a:endParaRPr lang="en-US" sz="1300" dirty="0"/>
          </a:p>
          <a:p>
            <a:pPr indent="0" marL="0">
              <a:lnSpc>
                <a:spcPts val="1400"/>
              </a:lnSpc>
              <a:buNone/>
            </a:pPr>
            <a:endParaRPr lang="en-US" sz="1300" dirty="0"/>
          </a:p>
          <a:p>
            <a:pPr indent="0" marL="0">
              <a:lnSpc>
                <a:spcPts val="1400"/>
              </a:lnSpc>
              <a:buNone/>
            </a:pPr>
            <a:r>
              <a:rPr lang="en-US" sz="1300" dirty="0">
                <a:solidFill>
                  <a:srgbClr val="1F2937"/>
                </a:solidFill>
              </a:rPr>
              <a:t>• Shared Display:</a:t>
            </a:r>
            <a:endParaRPr lang="en-US" sz="1300" dirty="0"/>
          </a:p>
          <a:p>
            <a:pPr indent="0" marL="0">
              <a:lnSpc>
                <a:spcPts val="1400"/>
              </a:lnSpc>
              <a:buNone/>
            </a:pPr>
            <a:r>
              <a:rPr lang="en-US" sz="1300" dirty="0">
                <a:solidFill>
                  <a:srgbClr val="1F2937"/>
                </a:solidFill>
              </a:rPr>
              <a:t>  schoolName is kept in sync on StudentProfile so UI screens render instantly without joining.</a:t>
            </a:r>
            <a:endParaRPr lang="en-US" sz="1300" dirty="0"/>
          </a:p>
        </p:txBody>
      </p:sp>
      <p:sp>
        <p:nvSpPr>
          <p:cNvPr id="9" name="Shape 7"/>
          <p:cNvSpPr/>
          <p:nvPr/>
        </p:nvSpPr>
        <p:spPr>
          <a:xfrm>
            <a:off x="6217920" y="1463040"/>
            <a:ext cx="5212080" cy="4572000"/>
          </a:xfrm>
          <a:prstGeom prst="roundRect">
            <a:avLst>
              <a:gd name="adj" fmla="val 3000"/>
            </a:avLst>
          </a:prstGeom>
          <a:solidFill>
            <a:srgbClr val="EFF6FF"/>
          </a:solidFill>
          <a:ln w="12700">
            <a:solidFill>
              <a:srgbClr val="BFDBFE"/>
            </a:solidFill>
            <a:prstDash val="solid"/>
          </a:ln>
        </p:spPr>
      </p:sp>
      <p:sp>
        <p:nvSpPr>
          <p:cNvPr id="10" name="Text 8"/>
          <p:cNvSpPr/>
          <p:nvPr/>
        </p:nvSpPr>
        <p:spPr>
          <a:xfrm>
            <a:off x="6492240" y="1737360"/>
            <a:ext cx="4572000" cy="365760"/>
          </a:xfrm>
          <a:prstGeom prst="rect">
            <a:avLst/>
          </a:prstGeom>
          <a:noFill/>
          <a:ln/>
        </p:spPr>
        <p:txBody>
          <a:bodyPr wrap="square" rtlCol="0" anchor="ctr"/>
          <a:lstStyle/>
          <a:p>
            <a:pPr indent="0" marL="0">
              <a:buNone/>
            </a:pPr>
            <a:r>
              <a:rPr lang="en-US" sz="1800" b="1" dirty="0">
                <a:solidFill>
                  <a:srgbClr val="2563EB"/>
                </a:solidFill>
              </a:rPr>
              <a:t>📋 School Subscription &amp; Status</a:t>
            </a:r>
            <a:endParaRPr lang="en-US" sz="1800" dirty="0"/>
          </a:p>
        </p:txBody>
      </p:sp>
      <p:sp>
        <p:nvSpPr>
          <p:cNvPr id="11" name="Text 9"/>
          <p:cNvSpPr/>
          <p:nvPr/>
        </p:nvSpPr>
        <p:spPr>
          <a:xfrm>
            <a:off x="6492240" y="2286000"/>
            <a:ext cx="4663440" cy="3474720"/>
          </a:xfrm>
          <a:prstGeom prst="rect">
            <a:avLst/>
          </a:prstGeom>
          <a:noFill/>
          <a:ln/>
        </p:spPr>
        <p:txBody>
          <a:bodyPr wrap="square" rtlCol="0" anchor="ctr"/>
          <a:lstStyle/>
          <a:p>
            <a:pPr indent="0" marL="0">
              <a:lnSpc>
                <a:spcPts val="1400"/>
              </a:lnSpc>
              <a:buNone/>
            </a:pPr>
            <a:r>
              <a:rPr lang="en-US" sz="1300" dirty="0">
                <a:solidFill>
                  <a:srgbClr val="1F2937"/>
                </a:solidFill>
              </a:rPr>
              <a:t>• School Entity Fields:</a:t>
            </a:r>
            <a:endParaRPr lang="en-US" sz="1300" dirty="0"/>
          </a:p>
          <a:p>
            <a:pPr indent="0" marL="0">
              <a:lnSpc>
                <a:spcPts val="1400"/>
              </a:lnSpc>
              <a:buNone/>
            </a:pPr>
            <a:r>
              <a:rPr lang="en-US" sz="1300" dirty="0">
                <a:solidFill>
                  <a:srgbClr val="1F2937"/>
                </a:solidFill>
              </a:rPr>
              <a:t>  code (unique ID, e.g. CPS001), district, state, board (CBSE/ICSE/State Board), maxStudents.</a:t>
            </a:r>
            <a:endParaRPr lang="en-US" sz="1300" dirty="0"/>
          </a:p>
          <a:p>
            <a:pPr indent="0" marL="0">
              <a:lnSpc>
                <a:spcPts val="1400"/>
              </a:lnSpc>
              <a:buNone/>
            </a:pPr>
            <a:endParaRPr lang="en-US" sz="1300" dirty="0"/>
          </a:p>
          <a:p>
            <a:pPr indent="0" marL="0">
              <a:lnSpc>
                <a:spcPts val="1400"/>
              </a:lnSpc>
              <a:buNone/>
            </a:pPr>
            <a:r>
              <a:rPr lang="en-US" sz="1300" dirty="0">
                <a:solidFill>
                  <a:srgbClr val="1F2937"/>
                </a:solidFill>
              </a:rPr>
              <a:t>• Plan Levels:</a:t>
            </a:r>
            <a:endParaRPr lang="en-US" sz="1300" dirty="0"/>
          </a:p>
          <a:p>
            <a:pPr indent="0" marL="0">
              <a:lnSpc>
                <a:spcPts val="1400"/>
              </a:lnSpc>
              <a:buNone/>
            </a:pPr>
            <a:r>
              <a:rPr lang="en-US" sz="1300" dirty="0">
                <a:solidFill>
                  <a:srgbClr val="1F2937"/>
                </a:solidFill>
              </a:rPr>
              <a:t>  BASIC | STANDARD | PREMIUM</a:t>
            </a:r>
            <a:endParaRPr lang="en-US" sz="1300" dirty="0"/>
          </a:p>
          <a:p>
            <a:pPr indent="0" marL="0">
              <a:lnSpc>
                <a:spcPts val="1400"/>
              </a:lnSpc>
              <a:buNone/>
            </a:pPr>
            <a:endParaRPr lang="en-US" sz="1300" dirty="0"/>
          </a:p>
          <a:p>
            <a:pPr indent="0" marL="0">
              <a:lnSpc>
                <a:spcPts val="1400"/>
              </a:lnSpc>
              <a:buNone/>
            </a:pPr>
            <a:r>
              <a:rPr lang="en-US" sz="1300" dirty="0">
                <a:solidFill>
                  <a:srgbClr val="1F2937"/>
                </a:solidFill>
              </a:rPr>
              <a:t>• Status Lifecycle:</a:t>
            </a:r>
            <a:endParaRPr lang="en-US" sz="1300" dirty="0"/>
          </a:p>
          <a:p>
            <a:pPr indent="0" marL="0">
              <a:lnSpc>
                <a:spcPts val="1400"/>
              </a:lnSpc>
              <a:buNone/>
            </a:pPr>
            <a:r>
              <a:rPr lang="en-US" sz="1300" dirty="0">
                <a:solidFill>
                  <a:srgbClr val="1F2937"/>
                </a:solidFill>
              </a:rPr>
              <a:t>  TRIAL → ACTIVE → SUSPENDED → CANCELLED</a:t>
            </a:r>
            <a:endParaRPr lang="en-US" sz="1300" dirty="0"/>
          </a:p>
          <a:p>
            <a:pPr indent="0" marL="0">
              <a:lnSpc>
                <a:spcPts val="1400"/>
              </a:lnSpc>
              <a:buNone/>
            </a:pPr>
            <a:endParaRPr lang="en-US" sz="1300" dirty="0"/>
          </a:p>
          <a:p>
            <a:pPr indent="0" marL="0">
              <a:lnSpc>
                <a:spcPts val="1400"/>
              </a:lnSpc>
              <a:buNone/>
            </a:pPr>
            <a:r>
              <a:rPr lang="en-US" sz="1300" dirty="0">
                <a:solidFill>
                  <a:srgbClr val="1F2937"/>
                </a:solidFill>
              </a:rPr>
              <a:t>• SchoolAdmin Contact:</a:t>
            </a:r>
            <a:endParaRPr lang="en-US" sz="1300" dirty="0"/>
          </a:p>
          <a:p>
            <a:pPr indent="0" marL="0">
              <a:lnSpc>
                <a:spcPts val="1400"/>
              </a:lnSpc>
              <a:buNone/>
            </a:pPr>
            <a:r>
              <a:rPr lang="en-US" sz="1300" dirty="0">
                <a:solidFill>
                  <a:srgbClr val="1F2937"/>
                </a:solidFill>
              </a:rPr>
              <a:t>  Tracks Principal / Administrator contact details.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1C2B4A"/>
          </a:solidFill>
          <a:ln w="12700">
            <a:solidFill>
              <a:srgbClr val="1C2B4A"/>
            </a:solidFill>
            <a:prstDash val="solid"/>
          </a:ln>
        </p:spPr>
      </p:sp>
      <p:sp>
        <p:nvSpPr>
          <p:cNvPr id="3" name="Text 1"/>
          <p:cNvSpPr/>
          <p:nvPr/>
        </p:nvSpPr>
        <p:spPr>
          <a:xfrm>
            <a:off x="548640" y="182880"/>
            <a:ext cx="10972800" cy="411480"/>
          </a:xfrm>
          <a:prstGeom prst="rect">
            <a:avLst/>
          </a:prstGeom>
          <a:noFill/>
          <a:ln/>
        </p:spPr>
        <p:txBody>
          <a:bodyPr wrap="square" rtlCol="0" anchor="ctr"/>
          <a:lstStyle/>
          <a:p>
            <a:pPr indent="0" marL="0">
              <a:buNone/>
            </a:pPr>
            <a:r>
              <a:rPr lang="en-US" sz="2400" b="1" dirty="0">
                <a:solidFill>
                  <a:srgbClr val="FFFFFF"/>
                </a:solidFill>
              </a:rPr>
              <a:t>9. Developer Operations &amp; Database Tooling</a:t>
            </a:r>
            <a:endParaRPr lang="en-US" sz="2400" dirty="0"/>
          </a:p>
        </p:txBody>
      </p:sp>
      <p:sp>
        <p:nvSpPr>
          <p:cNvPr id="4" name="Text 2"/>
          <p:cNvSpPr/>
          <p:nvPr/>
        </p:nvSpPr>
        <p:spPr>
          <a:xfrm>
            <a:off x="548640" y="594360"/>
            <a:ext cx="10972800" cy="320040"/>
          </a:xfrm>
          <a:prstGeom prst="rect">
            <a:avLst/>
          </a:prstGeom>
          <a:noFill/>
          <a:ln/>
        </p:spPr>
        <p:txBody>
          <a:bodyPr wrap="square" rtlCol="0" anchor="ctr"/>
          <a:lstStyle/>
          <a:p>
            <a:pPr indent="0" marL="0">
              <a:buNone/>
            </a:pPr>
            <a:r>
              <a:rPr lang="en-US" sz="1400" dirty="0">
                <a:solidFill>
                  <a:srgbClr val="94A3B8"/>
                </a:solidFill>
              </a:rPr>
              <a:t>CLI commands for schema validation, migration, seeding, and verification</a:t>
            </a:r>
            <a:endParaRPr lang="en-US" sz="1400" dirty="0"/>
          </a:p>
        </p:txBody>
      </p:sp>
      <p:sp>
        <p:nvSpPr>
          <p:cNvPr id="5" name="Text 3"/>
          <p:cNvSpPr/>
          <p:nvPr/>
        </p:nvSpPr>
        <p:spPr>
          <a:xfrm>
            <a:off x="548640" y="6492240"/>
            <a:ext cx="10972800" cy="274320"/>
          </a:xfrm>
          <a:prstGeom prst="rect">
            <a:avLst/>
          </a:prstGeom>
          <a:noFill/>
          <a:ln/>
        </p:spPr>
        <p:txBody>
          <a:bodyPr wrap="square" rtlCol="0" anchor="ctr"/>
          <a:lstStyle/>
          <a:p>
            <a:pPr indent="0" marL="0">
              <a:buNone/>
            </a:pPr>
            <a:r>
              <a:rPr lang="en-US" sz="1000" dirty="0">
                <a:solidFill>
                  <a:srgbClr val="64748B"/>
                </a:solidFill>
              </a:rPr>
              <a:t>Lumen Academy Database Architecture  |  Slide 10 of 10</a:t>
            </a:r>
            <a:endParaRPr lang="en-US" sz="1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731520" y="1463040"/>
          <a:ext cx="10698480" cy="914400"/>
        </p:xfrm>
        <a:graphic>
          <a:graphicData uri="http://schemas.openxmlformats.org/drawingml/2006/table">
            <a:tbl>
              <a:tblPr/>
              <a:tblGrid>
                <a:gridCol w="2286000"/>
                <a:gridCol w="3840480"/>
                <a:gridCol w="4572000"/>
              </a:tblGrid>
              <a:tr h="0">
                <a:tc>
                  <a:txBody>
                    <a:bodyPr/>
                    <a:lstStyle/>
                    <a:p>
                      <a:pPr indent="0" marL="0">
                        <a:buNone/>
                      </a:pPr>
                      <a:r>
                        <a:rPr lang="en-US" sz="1100" b="1" dirty="0">
                          <a:solidFill>
                            <a:srgbClr val="FFFFFF"/>
                          </a:solidFill>
                        </a:rPr>
                        <a:t>Command</a:t>
                      </a:r>
                      <a:endParaRPr lang="en-US" sz="11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C2B4A"/>
                    </a:solidFill>
                  </a:tcPr>
                </a:tc>
                <a:tc>
                  <a:txBody>
                    <a:bodyPr/>
                    <a:lstStyle/>
                    <a:p>
                      <a:pPr indent="0" marL="0">
                        <a:buNone/>
                      </a:pPr>
                      <a:r>
                        <a:rPr lang="en-US" sz="1100" b="1" dirty="0">
                          <a:solidFill>
                            <a:srgbClr val="FFFFFF"/>
                          </a:solidFill>
                        </a:rPr>
                        <a:t>Script Execution</a:t>
                      </a:r>
                      <a:endParaRPr lang="en-US" sz="11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C2B4A"/>
                    </a:solidFill>
                  </a:tcPr>
                </a:tc>
                <a:tc>
                  <a:txBody>
                    <a:bodyPr/>
                    <a:lstStyle/>
                    <a:p>
                      <a:pPr indent="0" marL="0">
                        <a:buNone/>
                      </a:pPr>
                      <a:r>
                        <a:rPr lang="en-US" sz="1100" b="1" dirty="0">
                          <a:solidFill>
                            <a:srgbClr val="FFFFFF"/>
                          </a:solidFill>
                        </a:rPr>
                        <a:t>Purpose &amp; Role</a:t>
                      </a:r>
                      <a:endParaRPr lang="en-US" sz="11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C2B4A"/>
                    </a:solidFill>
                  </a:tcPr>
                </a:tc>
              </a:tr>
              <a:tr h="0">
                <a:tc>
                  <a:txBody>
                    <a:bodyPr/>
                    <a:lstStyle/>
                    <a:p>
                      <a:pPr indent="0" marL="0">
                        <a:buNone/>
                      </a:pPr>
                      <a:r>
                        <a:rPr lang="en-US" sz="1100" dirty="0">
                          <a:solidFill>
                            <a:srgbClr val="000000"/>
                          </a:solidFill>
                        </a:rPr>
                        <a:t>npm run db:validate</a:t>
                      </a:r>
                      <a:endParaRPr lang="en-US" sz="11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100" dirty="0">
                          <a:solidFill>
                            <a:srgbClr val="000000"/>
                          </a:solidFill>
                        </a:rPr>
                        <a:t>prisma validate --schema ./schema6.prisma</a:t>
                      </a:r>
                      <a:endParaRPr lang="en-US" sz="11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100" dirty="0">
                          <a:solidFill>
                            <a:srgbClr val="000000"/>
                          </a:solidFill>
                        </a:rPr>
                        <a:t>Validates Prisma schema syntax &amp; relation constraints</a:t>
                      </a:r>
                      <a:endParaRPr lang="en-US" sz="11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r h="0">
                <a:tc>
                  <a:txBody>
                    <a:bodyPr/>
                    <a:lstStyle/>
                    <a:p>
                      <a:pPr indent="0" marL="0">
                        <a:buNone/>
                      </a:pPr>
                      <a:r>
                        <a:rPr lang="en-US" sz="1100" dirty="0">
                          <a:solidFill>
                            <a:srgbClr val="000000"/>
                          </a:solidFill>
                        </a:rPr>
                        <a:t>npm run db:generate</a:t>
                      </a:r>
                      <a:endParaRPr lang="en-US" sz="11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100" dirty="0">
                          <a:solidFill>
                            <a:srgbClr val="000000"/>
                          </a:solidFill>
                        </a:rPr>
                        <a:t>prisma generate --schema ./schema6.prisma</a:t>
                      </a:r>
                      <a:endParaRPr lang="en-US" sz="11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100" dirty="0">
                          <a:solidFill>
                            <a:srgbClr val="000000"/>
                          </a:solidFill>
                        </a:rPr>
                        <a:t>Generates type-safe @prisma/client TypeScript definitions</a:t>
                      </a:r>
                      <a:endParaRPr lang="en-US" sz="11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r h="0">
                <a:tc>
                  <a:txBody>
                    <a:bodyPr/>
                    <a:lstStyle/>
                    <a:p>
                      <a:pPr indent="0" marL="0">
                        <a:buNone/>
                      </a:pPr>
                      <a:r>
                        <a:rPr lang="en-US" sz="1100" dirty="0">
                          <a:solidFill>
                            <a:srgbClr val="000000"/>
                          </a:solidFill>
                        </a:rPr>
                        <a:t>npm run db:seed</a:t>
                      </a:r>
                      <a:endParaRPr lang="en-US" sz="11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100" dirty="0">
                          <a:solidFill>
                            <a:srgbClr val="000000"/>
                          </a:solidFill>
                        </a:rPr>
                        <a:t>tsx prisma/seed.ts</a:t>
                      </a:r>
                      <a:endParaRPr lang="en-US" sz="11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100" dirty="0">
                          <a:solidFill>
                            <a:srgbClr val="000000"/>
                          </a:solidFill>
                        </a:rPr>
                        <a:t>Seeds NEET &amp; JEE subjects, topics, and demo tests</a:t>
                      </a:r>
                      <a:endParaRPr lang="en-US" sz="11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r h="0">
                <a:tc>
                  <a:txBody>
                    <a:bodyPr/>
                    <a:lstStyle/>
                    <a:p>
                      <a:pPr indent="0" marL="0">
                        <a:buNone/>
                      </a:pPr>
                      <a:r>
                        <a:rPr lang="en-US" sz="1100" dirty="0">
                          <a:solidFill>
                            <a:srgbClr val="000000"/>
                          </a:solidFill>
                        </a:rPr>
                        <a:t>npm run db:verify-all</a:t>
                      </a:r>
                      <a:endParaRPr lang="en-US" sz="11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100" dirty="0">
                          <a:solidFill>
                            <a:srgbClr val="000000"/>
                          </a:solidFill>
                        </a:rPr>
                        <a:t>tsx prisma/verify-all-models.ts</a:t>
                      </a:r>
                      <a:endParaRPr lang="en-US" sz="11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100" dirty="0">
                          <a:solidFill>
                            <a:srgbClr val="000000"/>
                          </a:solidFill>
                        </a:rPr>
                        <a:t>Populates &amp; tests all 36 Prisma models for schema validity</a:t>
                      </a:r>
                      <a:endParaRPr lang="en-US" sz="11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r h="0">
                <a:tc>
                  <a:txBody>
                    <a:bodyPr/>
                    <a:lstStyle/>
                    <a:p>
                      <a:pPr indent="0" marL="0">
                        <a:buNone/>
                      </a:pPr>
                      <a:r>
                        <a:rPr lang="en-US" sz="1100" dirty="0">
                          <a:solidFill>
                            <a:srgbClr val="000000"/>
                          </a:solidFill>
                        </a:rPr>
                        <a:t>npm run db:studio</a:t>
                      </a:r>
                      <a:endParaRPr lang="en-US" sz="11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100" dirty="0">
                          <a:solidFill>
                            <a:srgbClr val="000000"/>
                          </a:solidFill>
                        </a:rPr>
                        <a:t>prisma studio --schema ./schema6.prisma</a:t>
                      </a:r>
                      <a:endParaRPr lang="en-US" sz="11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100" dirty="0">
                          <a:solidFill>
                            <a:srgbClr val="000000"/>
                          </a:solidFill>
                        </a:rPr>
                        <a:t>Opens interactive visual GUI inspector at http://localhost:5555</a:t>
                      </a:r>
                      <a:endParaRPr lang="en-US" sz="11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r h="0">
                <a:tc>
                  <a:txBody>
                    <a:bodyPr/>
                    <a:lstStyle/>
                    <a:p>
                      <a:pPr indent="0" marL="0">
                        <a:buNone/>
                      </a:pPr>
                      <a:r>
                        <a:rPr lang="en-US" sz="1100" dirty="0">
                          <a:solidFill>
                            <a:srgbClr val="000000"/>
                          </a:solidFill>
                        </a:rPr>
                        <a:t>npm run typecheck</a:t>
                      </a:r>
                      <a:endParaRPr lang="en-US" sz="11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100" dirty="0">
                          <a:solidFill>
                            <a:srgbClr val="000000"/>
                          </a:solidFill>
                        </a:rPr>
                        <a:t>tsc --noEmit</a:t>
                      </a:r>
                      <a:endParaRPr lang="en-US" sz="11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100" dirty="0">
                          <a:solidFill>
                            <a:srgbClr val="000000"/>
                          </a:solidFill>
                        </a:rPr>
                        <a:t>Executes TypeScript compilation check across all project files</a:t>
                      </a:r>
                      <a:endParaRPr lang="en-US" sz="11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bl>
          </a:graphicData>
        </a:graphic>
      </p:graphicFrame>
      <p:sp>
        <p:nvSpPr>
          <p:cNvPr id="7" name="Shape 4"/>
          <p:cNvSpPr/>
          <p:nvPr/>
        </p:nvSpPr>
        <p:spPr>
          <a:xfrm>
            <a:off x="731520" y="5120640"/>
            <a:ext cx="10698480" cy="1097280"/>
          </a:xfrm>
          <a:prstGeom prst="roundRect">
            <a:avLst>
              <a:gd name="adj" fmla="val 8333"/>
            </a:avLst>
          </a:prstGeom>
          <a:solidFill>
            <a:srgbClr val="ECFDF5"/>
          </a:solidFill>
          <a:ln w="12700">
            <a:solidFill>
              <a:srgbClr val="A7F3D0"/>
            </a:solidFill>
            <a:prstDash val="solid"/>
          </a:ln>
        </p:spPr>
      </p:sp>
      <p:sp>
        <p:nvSpPr>
          <p:cNvPr id="8" name="Text 5"/>
          <p:cNvSpPr/>
          <p:nvPr/>
        </p:nvSpPr>
        <p:spPr>
          <a:xfrm>
            <a:off x="914400" y="5257800"/>
            <a:ext cx="10332720" cy="274320"/>
          </a:xfrm>
          <a:prstGeom prst="rect">
            <a:avLst/>
          </a:prstGeom>
          <a:noFill/>
          <a:ln/>
        </p:spPr>
        <p:txBody>
          <a:bodyPr wrap="square" rtlCol="0" anchor="ctr"/>
          <a:lstStyle/>
          <a:p>
            <a:pPr indent="0" marL="0">
              <a:buNone/>
            </a:pPr>
            <a:r>
              <a:rPr lang="en-US" sz="1500" b="1" dirty="0">
                <a:solidFill>
                  <a:srgbClr val="059669"/>
                </a:solidFill>
              </a:rPr>
              <a:t>🚀 Production Verification Passed</a:t>
            </a:r>
            <a:endParaRPr lang="en-US" sz="1500" dirty="0"/>
          </a:p>
        </p:txBody>
      </p:sp>
      <p:sp>
        <p:nvSpPr>
          <p:cNvPr id="9" name="Text 6"/>
          <p:cNvSpPr/>
          <p:nvPr/>
        </p:nvSpPr>
        <p:spPr>
          <a:xfrm>
            <a:off x="914400" y="5577840"/>
            <a:ext cx="10332720" cy="457200"/>
          </a:xfrm>
          <a:prstGeom prst="rect">
            <a:avLst/>
          </a:prstGeom>
          <a:noFill/>
          <a:ln/>
        </p:spPr>
        <p:txBody>
          <a:bodyPr wrap="square" rtlCol="0" anchor="ctr"/>
          <a:lstStyle/>
          <a:p>
            <a:pPr indent="0" marL="0">
              <a:buNone/>
            </a:pPr>
            <a:r>
              <a:rPr lang="en-US" sz="1200" dirty="0">
                <a:solidFill>
                  <a:srgbClr val="1F2937"/>
                </a:solidFill>
              </a:rPr>
              <a:t>All 36 Prisma models and relations are 100% validated on PostgreSQL 16 (Supabase) with zero typecheck errors.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Lumen Academy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Lumen Academy Database Schema Architecture</dc:title>
  <dc:subject>Database Schema &amp; Architecture Overview</dc:subject>
  <dc:creator>Antigravity AI / Lumen Academy Engineering</dc:creator>
  <cp:lastModifiedBy>Antigravity AI / Lumen Academy Engineering</cp:lastModifiedBy>
  <cp:revision>1</cp:revision>
  <dcterms:created xsi:type="dcterms:W3CDTF">2026-08-11T05:06:59Z</dcterms:created>
  <dcterms:modified xsi:type="dcterms:W3CDTF">2026-08-11T05:06:59Z</dcterms:modified>
</cp:coreProperties>
</file>